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43891200" cy="32918400"/>
  <p:notesSz cx="6858000" cy="9144000"/>
  <p:embeddedFontLst>
    <p:embeddedFont>
      <p:font typeface="Canva Sans" panose="020B0503030501040103" pitchFamily="34" charset="0"/>
      <p:regular r:id="rId3"/>
    </p:embeddedFont>
    <p:embeddedFont>
      <p:font typeface="Canva Sans Bold" panose="020B0803030501040103" pitchFamily="34" charset="0"/>
      <p:regular r:id="rId4"/>
      <p:bold r:id="rId5"/>
    </p:embeddedFont>
    <p:embeddedFont>
      <p:font typeface="Raleway" pitchFamily="2" charset="77"/>
      <p:regular r:id="rId6"/>
      <p:bold r:id="rId7"/>
    </p:embeddedFont>
    <p:embeddedFont>
      <p:font typeface="Raleway Bold" pitchFamily="2" charset="77"/>
      <p:regular r:id="rId8"/>
      <p:bold r:id="rId9"/>
    </p:embeddedFont>
    <p:embeddedFont>
      <p:font typeface="Raleway Medium" pitchFamily="2" charset="77"/>
      <p:regular r:id="rId10"/>
    </p:embeddedFont>
    <p:embeddedFont>
      <p:font typeface="Raleway Semi-Bold" pitchFamily="2" charset="77"/>
      <p:regular r:id="rId11"/>
      <p:bold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589" autoAdjust="0"/>
  </p:normalViewPr>
  <p:slideViewPr>
    <p:cSldViewPr>
      <p:cViewPr>
        <p:scale>
          <a:sx n="22" d="100"/>
          <a:sy n="22" d="100"/>
        </p:scale>
        <p:origin x="1296" y="6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13" Type="http://schemas.openxmlformats.org/officeDocument/2006/relationships/presProps" Target="presProps.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font" Target="fonts/font9.fntdata"/><Relationship Id="rId5" Type="http://schemas.openxmlformats.org/officeDocument/2006/relationships/font" Target="fonts/font3.fntdata"/><Relationship Id="rId15" Type="http://schemas.openxmlformats.org/officeDocument/2006/relationships/theme" Target="theme/theme1.xml"/><Relationship Id="rId10" Type="http://schemas.openxmlformats.org/officeDocument/2006/relationships/font" Target="fonts/font8.fntdata"/><Relationship Id="rId4" Type="http://schemas.openxmlformats.org/officeDocument/2006/relationships/font" Target="fonts/font2.fntdata"/><Relationship Id="rId9" Type="http://schemas.openxmlformats.org/officeDocument/2006/relationships/font" Target="fonts/font7.fntdata"/><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43891200" cy="5295147"/>
            <a:chOff x="0" y="0"/>
            <a:chExt cx="1383586" cy="166919"/>
          </a:xfrm>
        </p:grpSpPr>
        <p:sp>
          <p:nvSpPr>
            <p:cNvPr id="3" name="Freeform 3"/>
            <p:cNvSpPr/>
            <p:nvPr/>
          </p:nvSpPr>
          <p:spPr>
            <a:xfrm>
              <a:off x="0" y="0"/>
              <a:ext cx="1383586" cy="166919"/>
            </a:xfrm>
            <a:custGeom>
              <a:avLst/>
              <a:gdLst/>
              <a:ahLst/>
              <a:cxnLst/>
              <a:rect l="l" t="t" r="r" b="b"/>
              <a:pathLst>
                <a:path w="1383586" h="166919">
                  <a:moveTo>
                    <a:pt x="0" y="0"/>
                  </a:moveTo>
                  <a:lnTo>
                    <a:pt x="1383586" y="0"/>
                  </a:lnTo>
                  <a:lnTo>
                    <a:pt x="1383586" y="166919"/>
                  </a:lnTo>
                  <a:lnTo>
                    <a:pt x="0" y="166919"/>
                  </a:lnTo>
                  <a:close/>
                </a:path>
              </a:pathLst>
            </a:custGeom>
            <a:solidFill>
              <a:srgbClr val="F55E25"/>
            </a:solidFill>
          </p:spPr>
        </p:sp>
        <p:sp>
          <p:nvSpPr>
            <p:cNvPr id="4" name="TextBox 4"/>
            <p:cNvSpPr txBox="1"/>
            <p:nvPr/>
          </p:nvSpPr>
          <p:spPr>
            <a:xfrm>
              <a:off x="0" y="0"/>
              <a:ext cx="1383586" cy="166919"/>
            </a:xfrm>
            <a:prstGeom prst="rect">
              <a:avLst/>
            </a:prstGeom>
          </p:spPr>
          <p:txBody>
            <a:bodyPr lIns="50800" tIns="50800" rIns="50800" bIns="50800" rtlCol="0" anchor="ctr"/>
            <a:lstStyle/>
            <a:p>
              <a:pPr algn="ctr">
                <a:lnSpc>
                  <a:spcPts val="13999"/>
                </a:lnSpc>
              </a:pPr>
              <a:r>
                <a:rPr lang="en-US" sz="9999" b="1" dirty="0">
                  <a:solidFill>
                    <a:srgbClr val="FFFFFF"/>
                  </a:solidFill>
                  <a:latin typeface="Canva Sans Bold"/>
                  <a:ea typeface="Canva Sans Bold"/>
                  <a:cs typeface="Canva Sans Bold"/>
                  <a:sym typeface="Canva Sans Bold"/>
                </a:rPr>
                <a:t>BEACON</a:t>
              </a:r>
            </a:p>
            <a:p>
              <a:pPr algn="ctr">
                <a:lnSpc>
                  <a:spcPts val="10500"/>
                </a:lnSpc>
              </a:pPr>
              <a:r>
                <a:rPr lang="en-US" sz="7500" b="1" dirty="0">
                  <a:solidFill>
                    <a:srgbClr val="FFFFFF"/>
                  </a:solidFill>
                  <a:latin typeface="Canva Sans Bold"/>
                  <a:ea typeface="Canva Sans Bold"/>
                  <a:cs typeface="Canva Sans Bold"/>
                  <a:sym typeface="Canva Sans Bold"/>
                </a:rPr>
                <a:t>B</a:t>
              </a:r>
              <a:r>
                <a:rPr lang="en-US" sz="7500" b="1" dirty="0">
                  <a:solidFill>
                    <a:srgbClr val="000000"/>
                  </a:solidFill>
                  <a:latin typeface="Canva Sans Bold"/>
                  <a:ea typeface="Canva Sans Bold"/>
                  <a:cs typeface="Canva Sans Bold"/>
                  <a:sym typeface="Canva Sans Bold"/>
                </a:rPr>
                <a:t>roadscale </a:t>
              </a:r>
              <a:r>
                <a:rPr lang="en-US" sz="7500" b="1" dirty="0">
                  <a:solidFill>
                    <a:srgbClr val="FFFFFF"/>
                  </a:solidFill>
                  <a:latin typeface="Canva Sans Bold"/>
                  <a:ea typeface="Canva Sans Bold"/>
                  <a:cs typeface="Canva Sans Bold"/>
                  <a:sym typeface="Canva Sans Bold"/>
                </a:rPr>
                <a:t>E</a:t>
              </a:r>
              <a:r>
                <a:rPr lang="en-US" sz="7500" b="1" dirty="0">
                  <a:solidFill>
                    <a:srgbClr val="000000"/>
                  </a:solidFill>
                  <a:latin typeface="Canva Sans Bold"/>
                  <a:ea typeface="Canva Sans Bold"/>
                  <a:cs typeface="Canva Sans Bold"/>
                  <a:sym typeface="Canva Sans Bold"/>
                </a:rPr>
                <a:t>vacuation </a:t>
              </a:r>
              <a:r>
                <a:rPr lang="en-US" sz="7500" b="1" dirty="0">
                  <a:solidFill>
                    <a:srgbClr val="FFFFFF"/>
                  </a:solidFill>
                  <a:latin typeface="Canva Sans Bold"/>
                  <a:ea typeface="Canva Sans Bold"/>
                  <a:cs typeface="Canva Sans Bold"/>
                  <a:sym typeface="Canva Sans Bold"/>
                </a:rPr>
                <a:t>A</a:t>
              </a:r>
              <a:r>
                <a:rPr lang="en-US" sz="7500" b="1" dirty="0">
                  <a:solidFill>
                    <a:srgbClr val="000000"/>
                  </a:solidFill>
                  <a:latin typeface="Canva Sans Bold"/>
                  <a:ea typeface="Canva Sans Bold"/>
                  <a:cs typeface="Canva Sans Bold"/>
                  <a:sym typeface="Canva Sans Bold"/>
                </a:rPr>
                <a:t>gentic </a:t>
              </a:r>
              <a:r>
                <a:rPr lang="en-US" sz="7500" b="1" dirty="0">
                  <a:solidFill>
                    <a:srgbClr val="FFFFFF"/>
                  </a:solidFill>
                  <a:latin typeface="Canva Sans Bold"/>
                  <a:ea typeface="Canva Sans Bold"/>
                  <a:cs typeface="Canva Sans Bold"/>
                  <a:sym typeface="Canva Sans Bold"/>
                </a:rPr>
                <a:t>C</a:t>
              </a:r>
              <a:r>
                <a:rPr lang="en-US" sz="7500" b="1" dirty="0">
                  <a:solidFill>
                    <a:srgbClr val="000000"/>
                  </a:solidFill>
                  <a:latin typeface="Canva Sans Bold"/>
                  <a:ea typeface="Canva Sans Bold"/>
                  <a:cs typeface="Canva Sans Bold"/>
                  <a:sym typeface="Canva Sans Bold"/>
                </a:rPr>
                <a:t>oordination, </a:t>
              </a:r>
              <a:r>
                <a:rPr lang="en-US" sz="7500" b="1" dirty="0">
                  <a:solidFill>
                    <a:srgbClr val="FFFFFF"/>
                  </a:solidFill>
                  <a:latin typeface="Canva Sans Bold"/>
                  <a:ea typeface="Canva Sans Bold"/>
                  <a:cs typeface="Canva Sans Bold"/>
                  <a:sym typeface="Canva Sans Bold"/>
                </a:rPr>
                <a:t>O</a:t>
              </a:r>
              <a:r>
                <a:rPr lang="en-US" sz="7500" b="1" dirty="0">
                  <a:solidFill>
                    <a:srgbClr val="000000"/>
                  </a:solidFill>
                  <a:latin typeface="Canva Sans Bold"/>
                  <a:ea typeface="Canva Sans Bold"/>
                  <a:cs typeface="Canva Sans Bold"/>
                  <a:sym typeface="Canva Sans Bold"/>
                </a:rPr>
                <a:t>utreach &amp; </a:t>
              </a:r>
              <a:r>
                <a:rPr lang="en-US" sz="7500" b="1" dirty="0">
                  <a:solidFill>
                    <a:srgbClr val="FFFFFF"/>
                  </a:solidFill>
                  <a:latin typeface="Canva Sans Bold"/>
                  <a:ea typeface="Canva Sans Bold"/>
                  <a:cs typeface="Canva Sans Bold"/>
                  <a:sym typeface="Canva Sans Bold"/>
                </a:rPr>
                <a:t>N</a:t>
              </a:r>
              <a:r>
                <a:rPr lang="en-US" sz="7500" b="1" dirty="0">
                  <a:solidFill>
                    <a:srgbClr val="000000"/>
                  </a:solidFill>
                  <a:latin typeface="Canva Sans Bold"/>
                  <a:ea typeface="Canva Sans Bold"/>
                  <a:cs typeface="Canva Sans Bold"/>
                  <a:sym typeface="Canva Sans Bold"/>
                </a:rPr>
                <a:t>avigation</a:t>
              </a:r>
            </a:p>
            <a:p>
              <a:pPr algn="ctr">
                <a:lnSpc>
                  <a:spcPts val="7000"/>
                </a:lnSpc>
              </a:pPr>
              <a:r>
                <a:rPr lang="en-US" sz="5000" b="1" dirty="0">
                  <a:solidFill>
                    <a:srgbClr val="000000"/>
                  </a:solidFill>
                  <a:latin typeface="Canva Sans Bold"/>
                  <a:ea typeface="Canva Sans Bold"/>
                  <a:cs typeface="Canva Sans Bold"/>
                  <a:sym typeface="Canva Sans Bold"/>
                </a:rPr>
                <a:t>A Multilingual AI-Powered Wildfire Evacuation Assistant</a:t>
              </a:r>
            </a:p>
            <a:p>
              <a:pPr algn="ctr">
                <a:lnSpc>
                  <a:spcPts val="7699"/>
                </a:lnSpc>
                <a:spcBef>
                  <a:spcPct val="0"/>
                </a:spcBef>
              </a:pPr>
              <a:r>
                <a:rPr lang="en-US" sz="5499" b="1" dirty="0">
                  <a:solidFill>
                    <a:srgbClr val="000000"/>
                  </a:solidFill>
                  <a:latin typeface="Canva Sans Bold"/>
                  <a:ea typeface="Canva Sans Bold"/>
                  <a:cs typeface="Canva Sans Bold"/>
                  <a:sym typeface="Canva Sans Bold"/>
                </a:rPr>
                <a:t>Shruti Kulkarni · Helen Lin · </a:t>
              </a:r>
              <a:r>
                <a:rPr lang="en-US" sz="5499" b="1" dirty="0" err="1">
                  <a:solidFill>
                    <a:srgbClr val="000000"/>
                  </a:solidFill>
                  <a:latin typeface="Canva Sans Bold"/>
                  <a:ea typeface="Canva Sans Bold"/>
                  <a:cs typeface="Canva Sans Bold"/>
                  <a:sym typeface="Canva Sans Bold"/>
                </a:rPr>
                <a:t>Chelyah</a:t>
              </a:r>
              <a:r>
                <a:rPr lang="en-US" sz="5499" b="1" dirty="0">
                  <a:solidFill>
                    <a:srgbClr val="000000"/>
                  </a:solidFill>
                  <a:latin typeface="Canva Sans Bold"/>
                  <a:ea typeface="Canva Sans Bold"/>
                  <a:cs typeface="Canva Sans Bold"/>
                  <a:sym typeface="Canva Sans Bold"/>
                </a:rPr>
                <a:t> Miller · Aditi </a:t>
              </a:r>
              <a:r>
                <a:rPr lang="en-US" sz="5499" b="1" dirty="0" err="1">
                  <a:solidFill>
                    <a:srgbClr val="000000"/>
                  </a:solidFill>
                  <a:latin typeface="Canva Sans Bold"/>
                  <a:ea typeface="Canva Sans Bold"/>
                  <a:cs typeface="Canva Sans Bold"/>
                  <a:sym typeface="Canva Sans Bold"/>
                </a:rPr>
                <a:t>Namboodiripad</a:t>
              </a:r>
              <a:r>
                <a:rPr lang="en-US" sz="5499" b="1" dirty="0">
                  <a:solidFill>
                    <a:srgbClr val="000000"/>
                  </a:solidFill>
                  <a:latin typeface="Canva Sans Bold"/>
                  <a:ea typeface="Canva Sans Bold"/>
                  <a:cs typeface="Canva Sans Bold"/>
                  <a:sym typeface="Canva Sans Bold"/>
                </a:rPr>
                <a:t> · Lynn Tong</a:t>
              </a:r>
            </a:p>
          </p:txBody>
        </p:sp>
      </p:grpSp>
      <p:grpSp>
        <p:nvGrpSpPr>
          <p:cNvPr id="5" name="Group 5"/>
          <p:cNvGrpSpPr/>
          <p:nvPr/>
        </p:nvGrpSpPr>
        <p:grpSpPr>
          <a:xfrm>
            <a:off x="0" y="32043788"/>
            <a:ext cx="43891200" cy="968779"/>
            <a:chOff x="0" y="0"/>
            <a:chExt cx="1316569" cy="29060"/>
          </a:xfrm>
        </p:grpSpPr>
        <p:sp>
          <p:nvSpPr>
            <p:cNvPr id="6" name="Freeform 6"/>
            <p:cNvSpPr/>
            <p:nvPr/>
          </p:nvSpPr>
          <p:spPr>
            <a:xfrm>
              <a:off x="0" y="0"/>
              <a:ext cx="1316569" cy="29060"/>
            </a:xfrm>
            <a:custGeom>
              <a:avLst/>
              <a:gdLst/>
              <a:ahLst/>
              <a:cxnLst/>
              <a:rect l="l" t="t" r="r" b="b"/>
              <a:pathLst>
                <a:path w="1316569" h="29060">
                  <a:moveTo>
                    <a:pt x="0" y="0"/>
                  </a:moveTo>
                  <a:lnTo>
                    <a:pt x="1316569" y="0"/>
                  </a:lnTo>
                  <a:lnTo>
                    <a:pt x="1316569" y="29060"/>
                  </a:lnTo>
                  <a:lnTo>
                    <a:pt x="0" y="29060"/>
                  </a:lnTo>
                  <a:close/>
                </a:path>
              </a:pathLst>
            </a:custGeom>
            <a:solidFill>
              <a:srgbClr val="F55E25"/>
            </a:solidFill>
          </p:spPr>
        </p:sp>
        <p:sp>
          <p:nvSpPr>
            <p:cNvPr id="7" name="TextBox 7"/>
            <p:cNvSpPr txBox="1"/>
            <p:nvPr/>
          </p:nvSpPr>
          <p:spPr>
            <a:xfrm>
              <a:off x="0" y="-85725"/>
              <a:ext cx="1316569" cy="114785"/>
            </a:xfrm>
            <a:prstGeom prst="rect">
              <a:avLst/>
            </a:prstGeom>
          </p:spPr>
          <p:txBody>
            <a:bodyPr lIns="50800" tIns="50800" rIns="50800" bIns="50800" rtlCol="0" anchor="ctr"/>
            <a:lstStyle/>
            <a:p>
              <a:pPr algn="ctr">
                <a:lnSpc>
                  <a:spcPts val="6300"/>
                </a:lnSpc>
                <a:spcBef>
                  <a:spcPct val="0"/>
                </a:spcBef>
              </a:pPr>
              <a:r>
                <a:rPr lang="en-US" sz="4500" b="1">
                  <a:solidFill>
                    <a:srgbClr val="FFFFFF"/>
                  </a:solidFill>
                  <a:latin typeface="Canva Sans Bold"/>
                  <a:ea typeface="Canva Sans Bold"/>
                  <a:cs typeface="Canva Sans Bold"/>
                  <a:sym typeface="Canva Sans Bold"/>
                </a:rPr>
                <a:t>Equitable Wildfire Collective | University of San Francisco, MS in Data Science &amp; AI | WiDS AI Forum 2026</a:t>
              </a:r>
            </a:p>
          </p:txBody>
        </p:sp>
      </p:grpSp>
      <p:sp>
        <p:nvSpPr>
          <p:cNvPr id="8" name="Freeform 8"/>
          <p:cNvSpPr/>
          <p:nvPr/>
        </p:nvSpPr>
        <p:spPr>
          <a:xfrm>
            <a:off x="39058391" y="0"/>
            <a:ext cx="4444435" cy="5295147"/>
          </a:xfrm>
          <a:custGeom>
            <a:avLst/>
            <a:gdLst/>
            <a:ahLst/>
            <a:cxnLst/>
            <a:rect l="l" t="t" r="r" b="b"/>
            <a:pathLst>
              <a:path w="4444435" h="5295147">
                <a:moveTo>
                  <a:pt x="0" y="0"/>
                </a:moveTo>
                <a:lnTo>
                  <a:pt x="4444435" y="0"/>
                </a:lnTo>
                <a:lnTo>
                  <a:pt x="4444435" y="5295147"/>
                </a:lnTo>
                <a:lnTo>
                  <a:pt x="0" y="5295147"/>
                </a:lnTo>
                <a:lnTo>
                  <a:pt x="0" y="0"/>
                </a:lnTo>
                <a:close/>
              </a:path>
            </a:pathLst>
          </a:custGeom>
          <a:blipFill>
            <a:blip r:embed="rId2"/>
            <a:stretch>
              <a:fillRect l="-5847" r="-5847"/>
            </a:stretch>
          </a:blipFill>
        </p:spPr>
      </p:sp>
      <p:sp>
        <p:nvSpPr>
          <p:cNvPr id="9" name="Freeform 9"/>
          <p:cNvSpPr/>
          <p:nvPr/>
        </p:nvSpPr>
        <p:spPr>
          <a:xfrm>
            <a:off x="536160" y="324319"/>
            <a:ext cx="4646509" cy="4646509"/>
          </a:xfrm>
          <a:custGeom>
            <a:avLst/>
            <a:gdLst/>
            <a:ahLst/>
            <a:cxnLst/>
            <a:rect l="l" t="t" r="r" b="b"/>
            <a:pathLst>
              <a:path w="4646509" h="4646509">
                <a:moveTo>
                  <a:pt x="0" y="0"/>
                </a:moveTo>
                <a:lnTo>
                  <a:pt x="4646509" y="0"/>
                </a:lnTo>
                <a:lnTo>
                  <a:pt x="4646509" y="4646509"/>
                </a:lnTo>
                <a:lnTo>
                  <a:pt x="0" y="4646509"/>
                </a:lnTo>
                <a:lnTo>
                  <a:pt x="0" y="0"/>
                </a:lnTo>
                <a:close/>
              </a:path>
            </a:pathLst>
          </a:custGeom>
          <a:blipFill>
            <a:blip r:embed="rId3"/>
            <a:stretch>
              <a:fillRect/>
            </a:stretch>
          </a:blipFill>
        </p:spPr>
      </p:sp>
      <p:grpSp>
        <p:nvGrpSpPr>
          <p:cNvPr id="10" name="Group 10"/>
          <p:cNvGrpSpPr/>
          <p:nvPr/>
        </p:nvGrpSpPr>
        <p:grpSpPr>
          <a:xfrm>
            <a:off x="536160" y="5768450"/>
            <a:ext cx="13767351" cy="18388246"/>
            <a:chOff x="0" y="0"/>
            <a:chExt cx="1133115" cy="1513436"/>
          </a:xfrm>
        </p:grpSpPr>
        <p:sp>
          <p:nvSpPr>
            <p:cNvPr id="11" name="Freeform 11"/>
            <p:cNvSpPr/>
            <p:nvPr/>
          </p:nvSpPr>
          <p:spPr>
            <a:xfrm>
              <a:off x="0" y="0"/>
              <a:ext cx="1133115" cy="1513436"/>
            </a:xfrm>
            <a:custGeom>
              <a:avLst/>
              <a:gdLst/>
              <a:ahLst/>
              <a:cxnLst/>
              <a:rect l="l" t="t" r="r" b="b"/>
              <a:pathLst>
                <a:path w="1133115" h="1513436">
                  <a:moveTo>
                    <a:pt x="0" y="0"/>
                  </a:moveTo>
                  <a:lnTo>
                    <a:pt x="1133115" y="0"/>
                  </a:lnTo>
                  <a:lnTo>
                    <a:pt x="1133115" y="1513436"/>
                  </a:lnTo>
                  <a:lnTo>
                    <a:pt x="0" y="1513436"/>
                  </a:lnTo>
                  <a:close/>
                </a:path>
              </a:pathLst>
            </a:custGeom>
            <a:solidFill>
              <a:srgbClr val="F55E25">
                <a:alpha val="12941"/>
              </a:srgbClr>
            </a:solidFill>
          </p:spPr>
        </p:sp>
        <p:sp>
          <p:nvSpPr>
            <p:cNvPr id="12" name="TextBox 12"/>
            <p:cNvSpPr txBox="1"/>
            <p:nvPr/>
          </p:nvSpPr>
          <p:spPr>
            <a:xfrm>
              <a:off x="0" y="-114300"/>
              <a:ext cx="1133115" cy="1627736"/>
            </a:xfrm>
            <a:prstGeom prst="rect">
              <a:avLst/>
            </a:prstGeom>
          </p:spPr>
          <p:txBody>
            <a:bodyPr lIns="50800" tIns="50800" rIns="50800" bIns="50800" rtlCol="0" anchor="t"/>
            <a:lstStyle/>
            <a:p>
              <a:pPr algn="l">
                <a:lnSpc>
                  <a:spcPts val="8680"/>
                </a:lnSpc>
                <a:spcBef>
                  <a:spcPct val="0"/>
                </a:spcBef>
              </a:pPr>
              <a:endParaRPr/>
            </a:p>
          </p:txBody>
        </p:sp>
      </p:grpSp>
      <p:grpSp>
        <p:nvGrpSpPr>
          <p:cNvPr id="13" name="Group 13"/>
          <p:cNvGrpSpPr/>
          <p:nvPr/>
        </p:nvGrpSpPr>
        <p:grpSpPr>
          <a:xfrm>
            <a:off x="29735476" y="5768450"/>
            <a:ext cx="13767351" cy="18388246"/>
            <a:chOff x="0" y="0"/>
            <a:chExt cx="1133115" cy="1513436"/>
          </a:xfrm>
        </p:grpSpPr>
        <p:sp>
          <p:nvSpPr>
            <p:cNvPr id="14" name="Freeform 14"/>
            <p:cNvSpPr/>
            <p:nvPr/>
          </p:nvSpPr>
          <p:spPr>
            <a:xfrm>
              <a:off x="0" y="0"/>
              <a:ext cx="1133115" cy="1513436"/>
            </a:xfrm>
            <a:custGeom>
              <a:avLst/>
              <a:gdLst/>
              <a:ahLst/>
              <a:cxnLst/>
              <a:rect l="l" t="t" r="r" b="b"/>
              <a:pathLst>
                <a:path w="1133115" h="1513436">
                  <a:moveTo>
                    <a:pt x="0" y="0"/>
                  </a:moveTo>
                  <a:lnTo>
                    <a:pt x="1133115" y="0"/>
                  </a:lnTo>
                  <a:lnTo>
                    <a:pt x="1133115" y="1513436"/>
                  </a:lnTo>
                  <a:lnTo>
                    <a:pt x="0" y="1513436"/>
                  </a:lnTo>
                  <a:close/>
                </a:path>
              </a:pathLst>
            </a:custGeom>
            <a:solidFill>
              <a:srgbClr val="F55E25">
                <a:alpha val="12941"/>
              </a:srgbClr>
            </a:solidFill>
          </p:spPr>
        </p:sp>
        <p:sp>
          <p:nvSpPr>
            <p:cNvPr id="15" name="TextBox 15"/>
            <p:cNvSpPr txBox="1"/>
            <p:nvPr/>
          </p:nvSpPr>
          <p:spPr>
            <a:xfrm>
              <a:off x="0" y="-114300"/>
              <a:ext cx="1133115" cy="1627736"/>
            </a:xfrm>
            <a:prstGeom prst="rect">
              <a:avLst/>
            </a:prstGeom>
          </p:spPr>
          <p:txBody>
            <a:bodyPr lIns="50800" tIns="50800" rIns="50800" bIns="50800" rtlCol="0" anchor="ctr"/>
            <a:lstStyle/>
            <a:p>
              <a:pPr algn="ctr">
                <a:lnSpc>
                  <a:spcPts val="8680"/>
                </a:lnSpc>
                <a:spcBef>
                  <a:spcPct val="0"/>
                </a:spcBef>
              </a:pPr>
              <a:endParaRPr/>
            </a:p>
          </p:txBody>
        </p:sp>
      </p:grpSp>
      <p:grpSp>
        <p:nvGrpSpPr>
          <p:cNvPr id="16" name="Group 16"/>
          <p:cNvGrpSpPr/>
          <p:nvPr/>
        </p:nvGrpSpPr>
        <p:grpSpPr>
          <a:xfrm>
            <a:off x="795239" y="5909835"/>
            <a:ext cx="13037503" cy="18246862"/>
            <a:chOff x="0" y="-11478"/>
            <a:chExt cx="1073046" cy="1504191"/>
          </a:xfrm>
        </p:grpSpPr>
        <p:sp>
          <p:nvSpPr>
            <p:cNvPr id="17" name="Freeform 17"/>
            <p:cNvSpPr/>
            <p:nvPr/>
          </p:nvSpPr>
          <p:spPr>
            <a:xfrm>
              <a:off x="0" y="0"/>
              <a:ext cx="1073046" cy="1492713"/>
            </a:xfrm>
            <a:custGeom>
              <a:avLst/>
              <a:gdLst/>
              <a:ahLst/>
              <a:cxnLst/>
              <a:rect l="l" t="t" r="r" b="b"/>
              <a:pathLst>
                <a:path w="1073046" h="1492713">
                  <a:moveTo>
                    <a:pt x="0" y="0"/>
                  </a:moveTo>
                  <a:lnTo>
                    <a:pt x="1073046" y="0"/>
                  </a:lnTo>
                  <a:lnTo>
                    <a:pt x="1073046" y="1492713"/>
                  </a:lnTo>
                  <a:lnTo>
                    <a:pt x="0" y="1492713"/>
                  </a:lnTo>
                  <a:close/>
                </a:path>
              </a:pathLst>
            </a:custGeom>
          </p:spPr>
        </p:sp>
        <p:sp>
          <p:nvSpPr>
            <p:cNvPr id="18" name="TextBox 18"/>
            <p:cNvSpPr txBox="1"/>
            <p:nvPr/>
          </p:nvSpPr>
          <p:spPr>
            <a:xfrm>
              <a:off x="0" y="-11478"/>
              <a:ext cx="1073046" cy="1504191"/>
            </a:xfrm>
            <a:prstGeom prst="rect">
              <a:avLst/>
            </a:prstGeom>
          </p:spPr>
          <p:txBody>
            <a:bodyPr lIns="50800" tIns="50800" rIns="50800" bIns="50800" rtlCol="0" anchor="t"/>
            <a:lstStyle/>
            <a:p>
              <a:pPr algn="just">
                <a:lnSpc>
                  <a:spcPts val="7000"/>
                </a:lnSpc>
                <a:spcBef>
                  <a:spcPct val="0"/>
                </a:spcBef>
              </a:pPr>
              <a:r>
                <a:rPr lang="en-US" sz="5000" b="1" dirty="0">
                  <a:solidFill>
                    <a:srgbClr val="F55E25"/>
                  </a:solidFill>
                  <a:latin typeface="Canva Sans Bold"/>
                  <a:ea typeface="Canva Sans Bold"/>
                  <a:cs typeface="Canva Sans Bold"/>
                  <a:sym typeface="Canva Sans Bold"/>
                </a:rPr>
                <a:t>ABSTRACT</a:t>
              </a:r>
            </a:p>
            <a:p>
              <a:pPr algn="just">
                <a:lnSpc>
                  <a:spcPts val="3499"/>
                </a:lnSpc>
                <a:spcBef>
                  <a:spcPct val="0"/>
                </a:spcBef>
              </a:pPr>
              <a:r>
                <a:rPr lang="en-US" sz="2499" dirty="0">
                  <a:solidFill>
                    <a:srgbClr val="000000"/>
                  </a:solidFill>
                  <a:latin typeface="Canva Sans"/>
                  <a:ea typeface="Canva Sans"/>
                  <a:cs typeface="Canva Sans"/>
                  <a:sym typeface="Canva Sans"/>
                </a:rPr>
                <a:t>The United States is experiencing a significant increase in the duration and intensity of wildfires, posing a severe threat to millions of residents in fire-prone states. One critical yet under-addressed aspect of emergency preparedness is </a:t>
              </a:r>
              <a:r>
                <a:rPr lang="en-US" sz="2499" b="1" dirty="0">
                  <a:solidFill>
                    <a:srgbClr val="F55E25"/>
                  </a:solidFill>
                  <a:latin typeface="Canva Sans Bold"/>
                  <a:ea typeface="Canva Sans Bold"/>
                  <a:cs typeface="Canva Sans Bold"/>
                  <a:sym typeface="Canva Sans Bold"/>
                </a:rPr>
                <a:t>language accessibility</a:t>
              </a:r>
              <a:r>
                <a:rPr lang="en-US" sz="2499" dirty="0">
                  <a:solidFill>
                    <a:srgbClr val="000000"/>
                  </a:solidFill>
                  <a:latin typeface="Canva Sans"/>
                  <a:ea typeface="Canva Sans"/>
                  <a:cs typeface="Canva Sans"/>
                  <a:sym typeface="Canva Sans"/>
                </a:rPr>
                <a:t>. Approximately 26 million U.S. residents have limited English proficiency, and 9.5 million speak neither English nor Spanish. Despite these challenges, </a:t>
              </a:r>
              <a:r>
                <a:rPr lang="en-US" sz="2499" b="1" dirty="0">
                  <a:solidFill>
                    <a:srgbClr val="F55E25"/>
                  </a:solidFill>
                  <a:latin typeface="Canva Sans Bold"/>
                  <a:ea typeface="Canva Sans Bold"/>
                  <a:cs typeface="Canva Sans Bold"/>
                  <a:sym typeface="Canva Sans Bold"/>
                </a:rPr>
                <a:t>over 80% of emergency alerts are issued exclusively in English</a:t>
              </a:r>
              <a:r>
                <a:rPr lang="en-US" sz="2499" dirty="0">
                  <a:solidFill>
                    <a:srgbClr val="000000"/>
                  </a:solidFill>
                  <a:latin typeface="Canva Sans"/>
                  <a:ea typeface="Canva Sans"/>
                  <a:cs typeface="Canva Sans"/>
                  <a:sym typeface="Canva Sans"/>
                </a:rPr>
                <a:t>.</a:t>
              </a:r>
            </a:p>
            <a:p>
              <a:pPr algn="just">
                <a:lnSpc>
                  <a:spcPts val="3499"/>
                </a:lnSpc>
                <a:spcBef>
                  <a:spcPct val="0"/>
                </a:spcBef>
              </a:pPr>
              <a:r>
                <a:rPr lang="en-US" sz="2499" dirty="0">
                  <a:solidFill>
                    <a:srgbClr val="000000"/>
                  </a:solidFill>
                  <a:latin typeface="Canva Sans"/>
                  <a:ea typeface="Canva Sans"/>
                  <a:cs typeface="Canva Sans"/>
                  <a:sym typeface="Canva Sans"/>
                </a:rPr>
                <a:t>BEACON, a </a:t>
              </a:r>
              <a:r>
                <a:rPr lang="en-US" sz="2499" b="1" dirty="0">
                  <a:solidFill>
                    <a:srgbClr val="F55E25"/>
                  </a:solidFill>
                  <a:latin typeface="Canva Sans Bold"/>
                  <a:ea typeface="Canva Sans Bold"/>
                  <a:cs typeface="Canva Sans Bold"/>
                  <a:sym typeface="Canva Sans Bold"/>
                </a:rPr>
                <a:t>multilingual AI-powered mobile app</a:t>
              </a:r>
              <a:r>
                <a:rPr lang="en-US" sz="2499" dirty="0">
                  <a:solidFill>
                    <a:srgbClr val="000000"/>
                  </a:solidFill>
                  <a:latin typeface="Canva Sans"/>
                  <a:ea typeface="Canva Sans"/>
                  <a:cs typeface="Canva Sans"/>
                  <a:sym typeface="Canva Sans"/>
                </a:rPr>
                <a:t>, bridges the gap in emergency evacuation guidance. It integrates real-time fire and evacuation perimeter data, meteorological wind modeling, and polygon-avoidant routing to provide language-inclusive evacuation instructions. The app’s AI agent </a:t>
              </a:r>
              <a:r>
                <a:rPr lang="en-US" sz="2499" b="1" dirty="0">
                  <a:solidFill>
                    <a:srgbClr val="F55E25"/>
                  </a:solidFill>
                  <a:latin typeface="Canva Sans Bold"/>
                  <a:ea typeface="Canva Sans Bold"/>
                  <a:cs typeface="Canva Sans Bold"/>
                  <a:sym typeface="Canva Sans Bold"/>
                </a:rPr>
                <a:t>automatically detects the user’s language and responds in the same language</a:t>
              </a:r>
              <a:r>
                <a:rPr lang="en-US" sz="2499" dirty="0">
                  <a:solidFill>
                    <a:srgbClr val="000000"/>
                  </a:solidFill>
                  <a:latin typeface="Canva Sans"/>
                  <a:ea typeface="Canva Sans"/>
                  <a:cs typeface="Canva Sans"/>
                  <a:sym typeface="Canva Sans"/>
                </a:rPr>
                <a:t>, eliminating the need for manual selection. It </a:t>
              </a:r>
              <a:r>
                <a:rPr lang="en-US" sz="2499" b="1" dirty="0">
                  <a:solidFill>
                    <a:srgbClr val="F55E25"/>
                  </a:solidFill>
                  <a:latin typeface="Canva Sans Bold"/>
                  <a:ea typeface="Canva Sans Bold"/>
                  <a:cs typeface="Canva Sans Bold"/>
                  <a:sym typeface="Canva Sans Bold"/>
                </a:rPr>
                <a:t>offers danger assessments, turn-by-turn evacuation routing, and provides a personalized evacuation checklist in the user’s native language</a:t>
              </a:r>
              <a:r>
                <a:rPr lang="en-US" sz="2499" dirty="0">
                  <a:solidFill>
                    <a:srgbClr val="000000"/>
                  </a:solidFill>
                  <a:latin typeface="Canva Sans"/>
                  <a:ea typeface="Canva Sans"/>
                  <a:cs typeface="Canva Sans"/>
                  <a:sym typeface="Canva Sans"/>
                </a:rPr>
                <a:t>.</a:t>
              </a:r>
            </a:p>
            <a:p>
              <a:pPr algn="just">
                <a:lnSpc>
                  <a:spcPts val="3499"/>
                </a:lnSpc>
                <a:spcBef>
                  <a:spcPct val="0"/>
                </a:spcBef>
              </a:pPr>
              <a:endParaRPr lang="en-US" sz="2499" dirty="0">
                <a:solidFill>
                  <a:srgbClr val="000000"/>
                </a:solidFill>
                <a:latin typeface="Canva Sans"/>
                <a:ea typeface="Canva Sans"/>
                <a:cs typeface="Canva Sans"/>
                <a:sym typeface="Canva Sans"/>
              </a:endParaRPr>
            </a:p>
            <a:p>
              <a:pPr algn="just">
                <a:lnSpc>
                  <a:spcPts val="7000"/>
                </a:lnSpc>
                <a:spcBef>
                  <a:spcPct val="0"/>
                </a:spcBef>
              </a:pPr>
              <a:r>
                <a:rPr lang="en-US" sz="5000" b="1" dirty="0">
                  <a:solidFill>
                    <a:srgbClr val="F55E25"/>
                  </a:solidFill>
                  <a:latin typeface="Canva Sans Bold"/>
                  <a:ea typeface="Canva Sans Bold"/>
                  <a:cs typeface="Canva Sans Bold"/>
                  <a:sym typeface="Canva Sans Bold"/>
                </a:rPr>
                <a:t>INTRODUCTION</a:t>
              </a:r>
            </a:p>
            <a:p>
              <a:pPr algn="just">
                <a:lnSpc>
                  <a:spcPts val="3499"/>
                </a:lnSpc>
                <a:spcBef>
                  <a:spcPct val="0"/>
                </a:spcBef>
              </a:pPr>
              <a:r>
                <a:rPr lang="en-US" sz="2499" dirty="0">
                  <a:solidFill>
                    <a:srgbClr val="000000"/>
                  </a:solidFill>
                  <a:latin typeface="Canva Sans"/>
                  <a:ea typeface="Canva Sans"/>
                  <a:cs typeface="Canva Sans"/>
                  <a:sym typeface="Canva Sans"/>
                </a:rPr>
                <a:t>Climate change has significantly extended wildfire seasons in the United States by an average of 84 days compared to the 1970s, while wildfire smoke now contributes to an estimated 40,000 deaths annually. Despite these escalating risks, emergency alert infrastructure has not kept pace — the vast majority of alerts are broadcast in English only, leaving residents with limited English proficiency systematically underserved during life-threatening events.</a:t>
              </a:r>
            </a:p>
            <a:p>
              <a:pPr algn="just">
                <a:lnSpc>
                  <a:spcPts val="3499"/>
                </a:lnSpc>
                <a:spcBef>
                  <a:spcPct val="0"/>
                </a:spcBef>
              </a:pPr>
              <a:r>
                <a:rPr lang="en-US" sz="2499" dirty="0">
                  <a:solidFill>
                    <a:srgbClr val="000000"/>
                  </a:solidFill>
                  <a:latin typeface="Canva Sans"/>
                  <a:ea typeface="Canva Sans"/>
                  <a:cs typeface="Canva Sans"/>
                  <a:sym typeface="Canva Sans"/>
                </a:rPr>
                <a:t>Existing tools such as Google Maps were evaluated for evacuation routing but repeatedly ignored fire polygon constraints, routing users through active fire perimeters — a critical failure when seconds matter.</a:t>
              </a:r>
            </a:p>
            <a:p>
              <a:pPr algn="just">
                <a:lnSpc>
                  <a:spcPts val="3499"/>
                </a:lnSpc>
                <a:spcBef>
                  <a:spcPct val="0"/>
                </a:spcBef>
              </a:pPr>
              <a:r>
                <a:rPr lang="en-US" sz="2499" dirty="0">
                  <a:solidFill>
                    <a:srgbClr val="000000"/>
                  </a:solidFill>
                  <a:latin typeface="Canva Sans"/>
                  <a:ea typeface="Canva Sans"/>
                  <a:cs typeface="Canva Sans"/>
                  <a:sym typeface="Canva Sans"/>
                </a:rPr>
                <a:t>BEACON was built to change that. It is </a:t>
              </a:r>
              <a:r>
                <a:rPr lang="en-US" sz="2499" b="1" dirty="0">
                  <a:solidFill>
                    <a:srgbClr val="F55E25"/>
                  </a:solidFill>
                  <a:latin typeface="Canva Sans Bold"/>
                  <a:ea typeface="Canva Sans Bold"/>
                  <a:cs typeface="Canva Sans Bold"/>
                  <a:sym typeface="Canva Sans Bold"/>
                </a:rPr>
                <a:t>a fully agentic evacuation platform that puts a powerful, personalized assistant in every resident's pocket — in their own language</a:t>
              </a:r>
              <a:r>
                <a:rPr lang="en-US" sz="2499" dirty="0">
                  <a:solidFill>
                    <a:srgbClr val="000000"/>
                  </a:solidFill>
                  <a:latin typeface="Canva Sans"/>
                  <a:ea typeface="Canva Sans"/>
                  <a:cs typeface="Canva Sans"/>
                  <a:sym typeface="Canva Sans"/>
                </a:rPr>
                <a:t>. BEACON combines </a:t>
              </a:r>
              <a:r>
                <a:rPr lang="en-US" sz="2499" b="1" dirty="0">
                  <a:solidFill>
                    <a:srgbClr val="F55E25"/>
                  </a:solidFill>
                  <a:latin typeface="Canva Sans Bold"/>
                  <a:ea typeface="Canva Sans Bold"/>
                  <a:cs typeface="Canva Sans Bold"/>
                  <a:sym typeface="Canva Sans Bold"/>
                </a:rPr>
                <a:t>a real-time AI chatbot agent with a live GPS navigation system that reflects current fire danger and an hourly fire prediction model</a:t>
              </a:r>
              <a:r>
                <a:rPr lang="en-US" sz="2499" dirty="0">
                  <a:solidFill>
                    <a:srgbClr val="000000"/>
                  </a:solidFill>
                  <a:latin typeface="Canva Sans"/>
                  <a:ea typeface="Canva Sans"/>
                  <a:cs typeface="Canva Sans"/>
                  <a:sym typeface="Canva Sans"/>
                </a:rPr>
                <a:t>, ensuring users always have the most up-to-date situational awareness. </a:t>
              </a:r>
              <a:r>
                <a:rPr lang="en-US" sz="2499" b="1" dirty="0">
                  <a:solidFill>
                    <a:srgbClr val="F55E25"/>
                  </a:solidFill>
                  <a:latin typeface="Canva Sans Bold"/>
                  <a:ea typeface="Canva Sans Bold"/>
                  <a:cs typeface="Canva Sans Bold"/>
                  <a:sym typeface="Canva Sans Bold"/>
                </a:rPr>
                <a:t>Every alert, message, and UI component is rendered automatically in the user's native language</a:t>
              </a:r>
              <a:r>
                <a:rPr lang="en-US" sz="2499" dirty="0">
                  <a:solidFill>
                    <a:srgbClr val="000000"/>
                  </a:solidFill>
                  <a:latin typeface="Canva Sans"/>
                  <a:ea typeface="Canva Sans"/>
                  <a:cs typeface="Canva Sans"/>
                  <a:sym typeface="Canva Sans"/>
                </a:rPr>
                <a:t> — with no configuration required. In addition, users receive </a:t>
              </a:r>
              <a:r>
                <a:rPr lang="en-US" sz="2499" b="1" dirty="0">
                  <a:solidFill>
                    <a:srgbClr val="F55E25"/>
                  </a:solidFill>
                  <a:latin typeface="Canva Sans Bold"/>
                  <a:ea typeface="Canva Sans Bold"/>
                  <a:cs typeface="Canva Sans Bold"/>
                  <a:sym typeface="Canva Sans Bold"/>
                </a:rPr>
                <a:t>a personalized evacuation checklist tailored to their household </a:t>
              </a:r>
              <a:r>
                <a:rPr lang="en-US" sz="2499" dirty="0">
                  <a:solidFill>
                    <a:srgbClr val="000000"/>
                  </a:solidFill>
                  <a:latin typeface="Canva Sans"/>
                  <a:ea typeface="Canva Sans"/>
                  <a:cs typeface="Canva Sans"/>
                  <a:sym typeface="Canva Sans"/>
                </a:rPr>
                <a:t>— accounting for pets, medications, mobility needs, and family size. The navigation engine supports</a:t>
              </a:r>
              <a:r>
                <a:rPr lang="en-US" sz="2499" b="1" dirty="0">
                  <a:solidFill>
                    <a:srgbClr val="F55E25"/>
                  </a:solidFill>
                  <a:latin typeface="Canva Sans Bold"/>
                  <a:ea typeface="Canva Sans Bold"/>
                  <a:cs typeface="Canva Sans Bold"/>
                  <a:sym typeface="Canva Sans Bold"/>
                </a:rPr>
                <a:t> customized routing that can include essential stops along the way</a:t>
              </a:r>
              <a:r>
                <a:rPr lang="en-US" sz="2499" dirty="0">
                  <a:solidFill>
                    <a:srgbClr val="000000"/>
                  </a:solidFill>
                  <a:latin typeface="Canva Sans"/>
                  <a:ea typeface="Canva Sans"/>
                  <a:cs typeface="Canva Sans"/>
                  <a:sym typeface="Canva Sans"/>
                </a:rPr>
                <a:t>, such as pharmacies and medical facilities, while </a:t>
              </a:r>
              <a:r>
                <a:rPr lang="en-US" sz="2499" b="1" dirty="0">
                  <a:solidFill>
                    <a:srgbClr val="F55E25"/>
                  </a:solidFill>
                  <a:latin typeface="Canva Sans Bold"/>
                  <a:ea typeface="Canva Sans Bold"/>
                  <a:cs typeface="Canva Sans Bold"/>
                  <a:sym typeface="Canva Sans Bold"/>
                </a:rPr>
                <a:t>intelligently avoiding hazards.</a:t>
              </a:r>
              <a:r>
                <a:rPr lang="en-US" sz="2499" dirty="0">
                  <a:solidFill>
                    <a:srgbClr val="000000"/>
                  </a:solidFill>
                  <a:latin typeface="Canva Sans"/>
                  <a:ea typeface="Canva Sans"/>
                  <a:cs typeface="Canva Sans"/>
                  <a:sym typeface="Canva Sans"/>
                </a:rPr>
                <a:t> Routes are recalculated in real time around active fire perimeters using </a:t>
              </a:r>
              <a:r>
                <a:rPr lang="en-US" sz="2499" dirty="0" err="1">
                  <a:solidFill>
                    <a:srgbClr val="000000"/>
                  </a:solidFill>
                  <a:latin typeface="Canva Sans"/>
                  <a:ea typeface="Canva Sans"/>
                  <a:cs typeface="Canva Sans"/>
                  <a:sym typeface="Canva Sans"/>
                </a:rPr>
                <a:t>WatchDuty</a:t>
              </a:r>
              <a:r>
                <a:rPr lang="en-US" sz="2499" dirty="0">
                  <a:solidFill>
                    <a:srgbClr val="000000"/>
                  </a:solidFill>
                  <a:latin typeface="Canva Sans"/>
                  <a:ea typeface="Canva Sans"/>
                  <a:cs typeface="Canva Sans"/>
                  <a:sym typeface="Canva Sans"/>
                </a:rPr>
                <a:t> polygon data and </a:t>
              </a:r>
              <a:r>
                <a:rPr lang="en-US" sz="2499" dirty="0" err="1">
                  <a:solidFill>
                    <a:srgbClr val="000000"/>
                  </a:solidFill>
                  <a:latin typeface="Canva Sans"/>
                  <a:ea typeface="Canva Sans"/>
                  <a:cs typeface="Canva Sans"/>
                  <a:sym typeface="Canva Sans"/>
                </a:rPr>
                <a:t>OpenRouteService</a:t>
              </a:r>
              <a:r>
                <a:rPr lang="en-US" sz="2499" dirty="0">
                  <a:solidFill>
                    <a:srgbClr val="000000"/>
                  </a:solidFill>
                  <a:latin typeface="Canva Sans"/>
                  <a:ea typeface="Canva Sans"/>
                  <a:cs typeface="Canva Sans"/>
                  <a:sym typeface="Canva Sans"/>
                </a:rPr>
                <a:t> (ORS), guaranteeing that no path leads through danger.</a:t>
              </a:r>
            </a:p>
            <a:p>
              <a:pPr algn="just">
                <a:lnSpc>
                  <a:spcPts val="3499"/>
                </a:lnSpc>
                <a:spcBef>
                  <a:spcPct val="0"/>
                </a:spcBef>
              </a:pPr>
              <a:endParaRPr lang="en-US" sz="2499" dirty="0">
                <a:solidFill>
                  <a:srgbClr val="000000"/>
                </a:solidFill>
                <a:latin typeface="Canva Sans"/>
                <a:ea typeface="Canva Sans"/>
                <a:cs typeface="Canva Sans"/>
                <a:sym typeface="Canva Sans"/>
              </a:endParaRPr>
            </a:p>
          </p:txBody>
        </p:sp>
      </p:grpSp>
      <p:grpSp>
        <p:nvGrpSpPr>
          <p:cNvPr id="19" name="Group 19"/>
          <p:cNvGrpSpPr/>
          <p:nvPr/>
        </p:nvGrpSpPr>
        <p:grpSpPr>
          <a:xfrm>
            <a:off x="497447" y="24515843"/>
            <a:ext cx="16773013" cy="7419472"/>
            <a:chOff x="-56024" y="0"/>
            <a:chExt cx="22364017" cy="9892629"/>
          </a:xfrm>
        </p:grpSpPr>
        <p:grpSp>
          <p:nvGrpSpPr>
            <p:cNvPr id="20" name="Group 20"/>
            <p:cNvGrpSpPr/>
            <p:nvPr/>
          </p:nvGrpSpPr>
          <p:grpSpPr>
            <a:xfrm>
              <a:off x="-56024" y="0"/>
              <a:ext cx="7563975" cy="843043"/>
              <a:chOff x="-11288" y="0"/>
              <a:chExt cx="1524020" cy="169860"/>
            </a:xfrm>
          </p:grpSpPr>
          <p:sp>
            <p:nvSpPr>
              <p:cNvPr id="21" name="Freeform 21"/>
              <p:cNvSpPr/>
              <p:nvPr/>
            </p:nvSpPr>
            <p:spPr>
              <a:xfrm>
                <a:off x="0" y="0"/>
                <a:ext cx="1511435" cy="169860"/>
              </a:xfrm>
              <a:custGeom>
                <a:avLst/>
                <a:gdLst/>
                <a:ahLst/>
                <a:cxnLst/>
                <a:rect l="l" t="t" r="r" b="b"/>
                <a:pathLst>
                  <a:path w="1511435" h="169860">
                    <a:moveTo>
                      <a:pt x="33727" y="0"/>
                    </a:moveTo>
                    <a:lnTo>
                      <a:pt x="1477708" y="0"/>
                    </a:lnTo>
                    <a:cubicBezTo>
                      <a:pt x="1486653" y="0"/>
                      <a:pt x="1495231" y="3553"/>
                      <a:pt x="1501556" y="9878"/>
                    </a:cubicBezTo>
                    <a:cubicBezTo>
                      <a:pt x="1507881" y="16203"/>
                      <a:pt x="1511435" y="24782"/>
                      <a:pt x="1511435" y="33727"/>
                    </a:cubicBezTo>
                    <a:lnTo>
                      <a:pt x="1511435" y="136133"/>
                    </a:lnTo>
                    <a:cubicBezTo>
                      <a:pt x="1511435" y="145078"/>
                      <a:pt x="1507881" y="153656"/>
                      <a:pt x="1501556" y="159981"/>
                    </a:cubicBezTo>
                    <a:cubicBezTo>
                      <a:pt x="1495231" y="166306"/>
                      <a:pt x="1486653" y="169860"/>
                      <a:pt x="1477708" y="169860"/>
                    </a:cubicBezTo>
                    <a:lnTo>
                      <a:pt x="33727" y="169860"/>
                    </a:lnTo>
                    <a:cubicBezTo>
                      <a:pt x="24782" y="169860"/>
                      <a:pt x="16203" y="166306"/>
                      <a:pt x="9878" y="159981"/>
                    </a:cubicBezTo>
                    <a:cubicBezTo>
                      <a:pt x="3553" y="153656"/>
                      <a:pt x="0" y="145078"/>
                      <a:pt x="0" y="136133"/>
                    </a:cubicBezTo>
                    <a:lnTo>
                      <a:pt x="0" y="33727"/>
                    </a:lnTo>
                    <a:cubicBezTo>
                      <a:pt x="0" y="24782"/>
                      <a:pt x="3553" y="16203"/>
                      <a:pt x="9878" y="9878"/>
                    </a:cubicBezTo>
                    <a:cubicBezTo>
                      <a:pt x="16203" y="3553"/>
                      <a:pt x="24782" y="0"/>
                      <a:pt x="33727" y="0"/>
                    </a:cubicBezTo>
                    <a:close/>
                  </a:path>
                </a:pathLst>
              </a:custGeom>
              <a:solidFill>
                <a:srgbClr val="FFFFFF"/>
              </a:solidFill>
              <a:ln w="9525" cap="rnd">
                <a:solidFill>
                  <a:srgbClr val="000000"/>
                </a:solidFill>
                <a:prstDash val="solid"/>
                <a:round/>
              </a:ln>
            </p:spPr>
            <p:txBody>
              <a:bodyPr/>
              <a:lstStyle/>
              <a:p>
                <a:endParaRPr lang="en-US" dirty="0"/>
              </a:p>
            </p:txBody>
          </p:sp>
          <p:sp>
            <p:nvSpPr>
              <p:cNvPr id="22" name="TextBox 22"/>
              <p:cNvSpPr txBox="1"/>
              <p:nvPr/>
            </p:nvSpPr>
            <p:spPr>
              <a:xfrm>
                <a:off x="-11288" y="11314"/>
                <a:ext cx="1524020" cy="155095"/>
              </a:xfrm>
              <a:prstGeom prst="rect">
                <a:avLst/>
              </a:prstGeom>
            </p:spPr>
            <p:txBody>
              <a:bodyPr lIns="50800" tIns="50800" rIns="50800" bIns="50800" rtlCol="0" anchor="ctr"/>
              <a:lstStyle/>
              <a:p>
                <a:pPr algn="ctr">
                  <a:lnSpc>
                    <a:spcPts val="2939"/>
                  </a:lnSpc>
                </a:pPr>
                <a:r>
                  <a:rPr lang="en-US" sz="2099" b="1" dirty="0">
                    <a:solidFill>
                      <a:srgbClr val="154734"/>
                    </a:solidFill>
                    <a:latin typeface="Raleway Medium"/>
                    <a:ea typeface="Raleway Medium"/>
                    <a:cs typeface="Raleway Medium"/>
                    <a:sym typeface="Raleway Medium"/>
                  </a:rPr>
                  <a:t>SPATIAL  </a:t>
                </a:r>
                <a:r>
                  <a:rPr lang="en-US" sz="2099" b="1" dirty="0">
                    <a:solidFill>
                      <a:srgbClr val="154734"/>
                    </a:solidFill>
                    <a:latin typeface="Raleway Semi-Bold"/>
                    <a:ea typeface="Raleway Semi-Bold"/>
                    <a:cs typeface="Raleway Semi-Bold"/>
                    <a:sym typeface="Raleway Semi-Bold"/>
                  </a:rPr>
                  <a:t>User GPS → nearest fire perimeter</a:t>
                </a:r>
              </a:p>
            </p:txBody>
          </p:sp>
        </p:grpSp>
        <p:grpSp>
          <p:nvGrpSpPr>
            <p:cNvPr id="23" name="Group 23"/>
            <p:cNvGrpSpPr/>
            <p:nvPr/>
          </p:nvGrpSpPr>
          <p:grpSpPr>
            <a:xfrm>
              <a:off x="7665576" y="0"/>
              <a:ext cx="7916141" cy="843043"/>
              <a:chOff x="-42686" y="0"/>
              <a:chExt cx="1594976" cy="169860"/>
            </a:xfrm>
          </p:grpSpPr>
          <p:sp>
            <p:nvSpPr>
              <p:cNvPr id="24" name="Freeform 24"/>
              <p:cNvSpPr/>
              <p:nvPr/>
            </p:nvSpPr>
            <p:spPr>
              <a:xfrm>
                <a:off x="0" y="0"/>
                <a:ext cx="1511435" cy="169860"/>
              </a:xfrm>
              <a:custGeom>
                <a:avLst/>
                <a:gdLst/>
                <a:ahLst/>
                <a:cxnLst/>
                <a:rect l="l" t="t" r="r" b="b"/>
                <a:pathLst>
                  <a:path w="1511435" h="169860">
                    <a:moveTo>
                      <a:pt x="33727" y="0"/>
                    </a:moveTo>
                    <a:lnTo>
                      <a:pt x="1477708" y="0"/>
                    </a:lnTo>
                    <a:cubicBezTo>
                      <a:pt x="1486653" y="0"/>
                      <a:pt x="1495231" y="3553"/>
                      <a:pt x="1501556" y="9878"/>
                    </a:cubicBezTo>
                    <a:cubicBezTo>
                      <a:pt x="1507881" y="16203"/>
                      <a:pt x="1511435" y="24782"/>
                      <a:pt x="1511435" y="33727"/>
                    </a:cubicBezTo>
                    <a:lnTo>
                      <a:pt x="1511435" y="136133"/>
                    </a:lnTo>
                    <a:cubicBezTo>
                      <a:pt x="1511435" y="145078"/>
                      <a:pt x="1507881" y="153656"/>
                      <a:pt x="1501556" y="159981"/>
                    </a:cubicBezTo>
                    <a:cubicBezTo>
                      <a:pt x="1495231" y="166306"/>
                      <a:pt x="1486653" y="169860"/>
                      <a:pt x="1477708" y="169860"/>
                    </a:cubicBezTo>
                    <a:lnTo>
                      <a:pt x="33727" y="169860"/>
                    </a:lnTo>
                    <a:cubicBezTo>
                      <a:pt x="24782" y="169860"/>
                      <a:pt x="16203" y="166306"/>
                      <a:pt x="9878" y="159981"/>
                    </a:cubicBezTo>
                    <a:cubicBezTo>
                      <a:pt x="3553" y="153656"/>
                      <a:pt x="0" y="145078"/>
                      <a:pt x="0" y="136133"/>
                    </a:cubicBezTo>
                    <a:lnTo>
                      <a:pt x="0" y="33727"/>
                    </a:lnTo>
                    <a:cubicBezTo>
                      <a:pt x="0" y="24782"/>
                      <a:pt x="3553" y="16203"/>
                      <a:pt x="9878" y="9878"/>
                    </a:cubicBezTo>
                    <a:cubicBezTo>
                      <a:pt x="16203" y="3553"/>
                      <a:pt x="24782" y="0"/>
                      <a:pt x="33727" y="0"/>
                    </a:cubicBezTo>
                    <a:close/>
                  </a:path>
                </a:pathLst>
              </a:custGeom>
              <a:solidFill>
                <a:srgbClr val="FFFFFF"/>
              </a:solidFill>
              <a:ln w="9525" cap="rnd">
                <a:solidFill>
                  <a:srgbClr val="000000"/>
                </a:solidFill>
                <a:prstDash val="solid"/>
                <a:round/>
              </a:ln>
            </p:spPr>
          </p:sp>
          <p:sp>
            <p:nvSpPr>
              <p:cNvPr id="25" name="TextBox 25"/>
              <p:cNvSpPr txBox="1"/>
              <p:nvPr/>
            </p:nvSpPr>
            <p:spPr>
              <a:xfrm>
                <a:off x="-42686" y="33771"/>
                <a:ext cx="1594976" cy="126588"/>
              </a:xfrm>
              <a:prstGeom prst="rect">
                <a:avLst/>
              </a:prstGeom>
            </p:spPr>
            <p:txBody>
              <a:bodyPr lIns="50800" tIns="50800" rIns="50800" bIns="50800" rtlCol="0" anchor="ctr"/>
              <a:lstStyle/>
              <a:p>
                <a:pPr algn="ctr">
                  <a:lnSpc>
                    <a:spcPts val="2939"/>
                  </a:lnSpc>
                </a:pPr>
                <a:r>
                  <a:rPr lang="en-US" sz="2099" b="1" dirty="0">
                    <a:solidFill>
                      <a:srgbClr val="154734"/>
                    </a:solidFill>
                    <a:latin typeface="Raleway Medium"/>
                    <a:ea typeface="Raleway Medium"/>
                    <a:cs typeface="Raleway Medium"/>
                    <a:sym typeface="Raleway Medium"/>
                  </a:rPr>
                  <a:t>TEMPORAL   </a:t>
                </a:r>
                <a:r>
                  <a:rPr lang="en-US" sz="2099" b="1" dirty="0">
                    <a:solidFill>
                      <a:srgbClr val="154734"/>
                    </a:solidFill>
                    <a:latin typeface="Raleway Bold"/>
                    <a:ea typeface="Raleway Bold"/>
                    <a:cs typeface="Raleway Bold"/>
                    <a:sym typeface="Raleway Bold"/>
                  </a:rPr>
                  <a:t>Per session, refreshed on ope</a:t>
                </a:r>
                <a:r>
                  <a:rPr lang="en-US" sz="2099" b="1" dirty="0">
                    <a:solidFill>
                      <a:srgbClr val="154734"/>
                    </a:solidFill>
                    <a:latin typeface="Raleway Semi-Bold"/>
                    <a:ea typeface="Raleway Semi-Bold"/>
                    <a:cs typeface="Raleway Semi-Bold"/>
                    <a:sym typeface="Raleway Semi-Bold"/>
                  </a:rPr>
                  <a:t>n</a:t>
                </a:r>
              </a:p>
            </p:txBody>
          </p:sp>
        </p:grpSp>
        <p:grpSp>
          <p:nvGrpSpPr>
            <p:cNvPr id="26" name="Group 26"/>
            <p:cNvGrpSpPr/>
            <p:nvPr/>
          </p:nvGrpSpPr>
          <p:grpSpPr>
            <a:xfrm>
              <a:off x="15754869" y="0"/>
              <a:ext cx="6553117" cy="843043"/>
              <a:chOff x="0" y="0"/>
              <a:chExt cx="1320348" cy="169860"/>
            </a:xfrm>
          </p:grpSpPr>
          <p:sp>
            <p:nvSpPr>
              <p:cNvPr id="27" name="Freeform 27"/>
              <p:cNvSpPr/>
              <p:nvPr/>
            </p:nvSpPr>
            <p:spPr>
              <a:xfrm>
                <a:off x="0" y="0"/>
                <a:ext cx="1320348" cy="169860"/>
              </a:xfrm>
              <a:custGeom>
                <a:avLst/>
                <a:gdLst/>
                <a:ahLst/>
                <a:cxnLst/>
                <a:rect l="l" t="t" r="r" b="b"/>
                <a:pathLst>
                  <a:path w="1320348" h="169860">
                    <a:moveTo>
                      <a:pt x="38608" y="0"/>
                    </a:moveTo>
                    <a:lnTo>
                      <a:pt x="1281740" y="0"/>
                    </a:lnTo>
                    <a:cubicBezTo>
                      <a:pt x="1303063" y="0"/>
                      <a:pt x="1320348" y="17285"/>
                      <a:pt x="1320348" y="38608"/>
                    </a:cubicBezTo>
                    <a:lnTo>
                      <a:pt x="1320348" y="131252"/>
                    </a:lnTo>
                    <a:cubicBezTo>
                      <a:pt x="1320348" y="152574"/>
                      <a:pt x="1303063" y="169860"/>
                      <a:pt x="1281740" y="169860"/>
                    </a:cubicBezTo>
                    <a:lnTo>
                      <a:pt x="38608" y="169860"/>
                    </a:lnTo>
                    <a:cubicBezTo>
                      <a:pt x="28368" y="169860"/>
                      <a:pt x="18548" y="165792"/>
                      <a:pt x="11308" y="158552"/>
                    </a:cubicBezTo>
                    <a:cubicBezTo>
                      <a:pt x="4068" y="151311"/>
                      <a:pt x="0" y="141491"/>
                      <a:pt x="0" y="131252"/>
                    </a:cubicBezTo>
                    <a:lnTo>
                      <a:pt x="0" y="38608"/>
                    </a:lnTo>
                    <a:cubicBezTo>
                      <a:pt x="0" y="17285"/>
                      <a:pt x="17285" y="0"/>
                      <a:pt x="38608" y="0"/>
                    </a:cubicBezTo>
                    <a:close/>
                  </a:path>
                </a:pathLst>
              </a:custGeom>
              <a:solidFill>
                <a:srgbClr val="FFFFFF"/>
              </a:solidFill>
              <a:ln w="9525" cap="rnd">
                <a:solidFill>
                  <a:srgbClr val="000000"/>
                </a:solidFill>
                <a:prstDash val="solid"/>
                <a:round/>
              </a:ln>
            </p:spPr>
          </p:sp>
          <p:sp>
            <p:nvSpPr>
              <p:cNvPr id="28" name="TextBox 28"/>
              <p:cNvSpPr txBox="1"/>
              <p:nvPr/>
            </p:nvSpPr>
            <p:spPr>
              <a:xfrm>
                <a:off x="0" y="30667"/>
                <a:ext cx="1320348" cy="139193"/>
              </a:xfrm>
              <a:prstGeom prst="rect">
                <a:avLst/>
              </a:prstGeom>
            </p:spPr>
            <p:txBody>
              <a:bodyPr lIns="50800" tIns="50800" rIns="50800" bIns="50800" rtlCol="0" anchor="ctr"/>
              <a:lstStyle/>
              <a:p>
                <a:pPr algn="ctr">
                  <a:lnSpc>
                    <a:spcPts val="2939"/>
                  </a:lnSpc>
                </a:pPr>
                <a:r>
                  <a:rPr lang="en-US" sz="2099" b="1" dirty="0">
                    <a:solidFill>
                      <a:srgbClr val="154734"/>
                    </a:solidFill>
                    <a:latin typeface="Raleway Medium"/>
                    <a:ea typeface="Raleway Medium"/>
                    <a:cs typeface="Raleway Medium"/>
                    <a:sym typeface="Raleway Medium"/>
                  </a:rPr>
                  <a:t>BASELINE  </a:t>
                </a:r>
                <a:r>
                  <a:rPr lang="en-US" sz="2099" b="1" dirty="0">
                    <a:solidFill>
                      <a:srgbClr val="154734"/>
                    </a:solidFill>
                    <a:latin typeface="Raleway Bold"/>
                    <a:ea typeface="Raleway Bold"/>
                    <a:cs typeface="Raleway Bold"/>
                    <a:sym typeface="Raleway Bold"/>
                  </a:rPr>
                  <a:t>Distance only, no wind adj.</a:t>
                </a:r>
              </a:p>
            </p:txBody>
          </p:sp>
        </p:grpSp>
        <p:grpSp>
          <p:nvGrpSpPr>
            <p:cNvPr id="29" name="Group 29"/>
            <p:cNvGrpSpPr/>
            <p:nvPr/>
          </p:nvGrpSpPr>
          <p:grpSpPr>
            <a:xfrm>
              <a:off x="0" y="1081547"/>
              <a:ext cx="4092129" cy="2103550"/>
              <a:chOff x="0" y="0"/>
              <a:chExt cx="824498" cy="423832"/>
            </a:xfrm>
          </p:grpSpPr>
          <p:sp>
            <p:nvSpPr>
              <p:cNvPr id="30" name="Freeform 30"/>
              <p:cNvSpPr/>
              <p:nvPr/>
            </p:nvSpPr>
            <p:spPr>
              <a:xfrm>
                <a:off x="0" y="0"/>
                <a:ext cx="824498" cy="423832"/>
              </a:xfrm>
              <a:custGeom>
                <a:avLst/>
                <a:gdLst/>
                <a:ahLst/>
                <a:cxnLst/>
                <a:rect l="l" t="t" r="r" b="b"/>
                <a:pathLst>
                  <a:path w="824498" h="423832">
                    <a:moveTo>
                      <a:pt x="61826" y="0"/>
                    </a:moveTo>
                    <a:lnTo>
                      <a:pt x="762672" y="0"/>
                    </a:lnTo>
                    <a:cubicBezTo>
                      <a:pt x="779069" y="0"/>
                      <a:pt x="794795" y="6514"/>
                      <a:pt x="806390" y="18108"/>
                    </a:cubicBezTo>
                    <a:cubicBezTo>
                      <a:pt x="817984" y="29703"/>
                      <a:pt x="824498" y="45429"/>
                      <a:pt x="824498" y="61826"/>
                    </a:cubicBezTo>
                    <a:lnTo>
                      <a:pt x="824498" y="362005"/>
                    </a:lnTo>
                    <a:cubicBezTo>
                      <a:pt x="824498" y="378403"/>
                      <a:pt x="817984" y="394128"/>
                      <a:pt x="806390" y="405723"/>
                    </a:cubicBezTo>
                    <a:cubicBezTo>
                      <a:pt x="794795" y="417318"/>
                      <a:pt x="779069" y="423832"/>
                      <a:pt x="762672" y="423832"/>
                    </a:cubicBezTo>
                    <a:lnTo>
                      <a:pt x="61826" y="423832"/>
                    </a:lnTo>
                    <a:cubicBezTo>
                      <a:pt x="45429" y="423832"/>
                      <a:pt x="29703" y="417318"/>
                      <a:pt x="18108" y="405723"/>
                    </a:cubicBezTo>
                    <a:cubicBezTo>
                      <a:pt x="6514" y="394128"/>
                      <a:pt x="0" y="378403"/>
                      <a:pt x="0" y="362005"/>
                    </a:cubicBezTo>
                    <a:lnTo>
                      <a:pt x="0" y="61826"/>
                    </a:lnTo>
                    <a:cubicBezTo>
                      <a:pt x="0" y="45429"/>
                      <a:pt x="6514" y="29703"/>
                      <a:pt x="18108" y="18108"/>
                    </a:cubicBezTo>
                    <a:cubicBezTo>
                      <a:pt x="29703" y="6514"/>
                      <a:pt x="45429" y="0"/>
                      <a:pt x="61826" y="0"/>
                    </a:cubicBezTo>
                    <a:close/>
                  </a:path>
                </a:pathLst>
              </a:custGeom>
              <a:solidFill>
                <a:srgbClr val="154734"/>
              </a:solidFill>
              <a:ln w="9525" cap="rnd">
                <a:solidFill>
                  <a:srgbClr val="000000"/>
                </a:solidFill>
                <a:prstDash val="solid"/>
                <a:round/>
              </a:ln>
            </p:spPr>
          </p:sp>
          <p:sp>
            <p:nvSpPr>
              <p:cNvPr id="31" name="TextBox 31"/>
              <p:cNvSpPr txBox="1"/>
              <p:nvPr/>
            </p:nvSpPr>
            <p:spPr>
              <a:xfrm>
                <a:off x="0" y="-57150"/>
                <a:ext cx="824498" cy="480982"/>
              </a:xfrm>
              <a:prstGeom prst="rect">
                <a:avLst/>
              </a:prstGeom>
            </p:spPr>
            <p:txBody>
              <a:bodyPr lIns="50800" tIns="50800" rIns="50800" bIns="50800" rtlCol="0" anchor="ctr"/>
              <a:lstStyle/>
              <a:p>
                <a:pPr algn="ctr">
                  <a:lnSpc>
                    <a:spcPts val="2939"/>
                  </a:lnSpc>
                </a:pPr>
                <a:r>
                  <a:rPr lang="en-US" sz="2099" b="1">
                    <a:solidFill>
                      <a:srgbClr val="FFFFFF"/>
                    </a:solidFill>
                    <a:latin typeface="Raleway Semi-Bold"/>
                    <a:ea typeface="Raleway Semi-Bold"/>
                    <a:cs typeface="Raleway Semi-Bold"/>
                    <a:sym typeface="Raleway Semi-Bold"/>
                  </a:rPr>
                  <a:t>User GPS </a:t>
                </a:r>
              </a:p>
              <a:p>
                <a:pPr algn="ctr">
                  <a:lnSpc>
                    <a:spcPts val="2944"/>
                  </a:lnSpc>
                </a:pPr>
                <a:r>
                  <a:rPr lang="en-US" sz="1600">
                    <a:solidFill>
                      <a:srgbClr val="FFFFFF"/>
                    </a:solidFill>
                    <a:latin typeface="Raleway"/>
                    <a:ea typeface="Raleway"/>
                    <a:cs typeface="Raleway"/>
                    <a:sym typeface="Raleway"/>
                  </a:rPr>
                  <a:t>Live coordinates at session start</a:t>
                </a:r>
              </a:p>
            </p:txBody>
          </p:sp>
        </p:grpSp>
        <p:sp>
          <p:nvSpPr>
            <p:cNvPr id="32" name="AutoShape 32"/>
            <p:cNvSpPr/>
            <p:nvPr/>
          </p:nvSpPr>
          <p:spPr>
            <a:xfrm>
              <a:off x="4204197" y="2158223"/>
              <a:ext cx="470046" cy="215"/>
            </a:xfrm>
            <a:prstGeom prst="line">
              <a:avLst/>
            </a:prstGeom>
            <a:ln w="12451" cap="flat">
              <a:solidFill>
                <a:srgbClr val="000000"/>
              </a:solidFill>
              <a:prstDash val="solid"/>
              <a:headEnd type="none" w="sm" len="sm"/>
              <a:tailEnd type="triangle" w="lg" len="med"/>
            </a:ln>
          </p:spPr>
        </p:sp>
        <p:grpSp>
          <p:nvGrpSpPr>
            <p:cNvPr id="33" name="Group 33"/>
            <p:cNvGrpSpPr/>
            <p:nvPr/>
          </p:nvGrpSpPr>
          <p:grpSpPr>
            <a:xfrm>
              <a:off x="4786313" y="1081547"/>
              <a:ext cx="4092129" cy="2103550"/>
              <a:chOff x="0" y="0"/>
              <a:chExt cx="824498" cy="423832"/>
            </a:xfrm>
          </p:grpSpPr>
          <p:sp>
            <p:nvSpPr>
              <p:cNvPr id="34" name="Freeform 34"/>
              <p:cNvSpPr/>
              <p:nvPr/>
            </p:nvSpPr>
            <p:spPr>
              <a:xfrm>
                <a:off x="0" y="0"/>
                <a:ext cx="824498" cy="423832"/>
              </a:xfrm>
              <a:custGeom>
                <a:avLst/>
                <a:gdLst/>
                <a:ahLst/>
                <a:cxnLst/>
                <a:rect l="l" t="t" r="r" b="b"/>
                <a:pathLst>
                  <a:path w="824498" h="423832">
                    <a:moveTo>
                      <a:pt x="61826" y="0"/>
                    </a:moveTo>
                    <a:lnTo>
                      <a:pt x="762672" y="0"/>
                    </a:lnTo>
                    <a:cubicBezTo>
                      <a:pt x="779069" y="0"/>
                      <a:pt x="794795" y="6514"/>
                      <a:pt x="806390" y="18108"/>
                    </a:cubicBezTo>
                    <a:cubicBezTo>
                      <a:pt x="817984" y="29703"/>
                      <a:pt x="824498" y="45429"/>
                      <a:pt x="824498" y="61826"/>
                    </a:cubicBezTo>
                    <a:lnTo>
                      <a:pt x="824498" y="362005"/>
                    </a:lnTo>
                    <a:cubicBezTo>
                      <a:pt x="824498" y="378403"/>
                      <a:pt x="817984" y="394128"/>
                      <a:pt x="806390" y="405723"/>
                    </a:cubicBezTo>
                    <a:cubicBezTo>
                      <a:pt x="794795" y="417318"/>
                      <a:pt x="779069" y="423832"/>
                      <a:pt x="762672" y="423832"/>
                    </a:cubicBezTo>
                    <a:lnTo>
                      <a:pt x="61826" y="423832"/>
                    </a:lnTo>
                    <a:cubicBezTo>
                      <a:pt x="45429" y="423832"/>
                      <a:pt x="29703" y="417318"/>
                      <a:pt x="18108" y="405723"/>
                    </a:cubicBezTo>
                    <a:cubicBezTo>
                      <a:pt x="6514" y="394128"/>
                      <a:pt x="0" y="378403"/>
                      <a:pt x="0" y="362005"/>
                    </a:cubicBezTo>
                    <a:lnTo>
                      <a:pt x="0" y="61826"/>
                    </a:lnTo>
                    <a:cubicBezTo>
                      <a:pt x="0" y="45429"/>
                      <a:pt x="6514" y="29703"/>
                      <a:pt x="18108" y="18108"/>
                    </a:cubicBezTo>
                    <a:cubicBezTo>
                      <a:pt x="29703" y="6514"/>
                      <a:pt x="45429" y="0"/>
                      <a:pt x="61826" y="0"/>
                    </a:cubicBezTo>
                    <a:close/>
                  </a:path>
                </a:pathLst>
              </a:custGeom>
              <a:solidFill>
                <a:srgbClr val="154734"/>
              </a:solidFill>
              <a:ln w="9525" cap="rnd">
                <a:solidFill>
                  <a:srgbClr val="000000"/>
                </a:solidFill>
                <a:prstDash val="solid"/>
                <a:round/>
              </a:ln>
            </p:spPr>
          </p:sp>
          <p:sp>
            <p:nvSpPr>
              <p:cNvPr id="35" name="TextBox 35"/>
              <p:cNvSpPr txBox="1"/>
              <p:nvPr/>
            </p:nvSpPr>
            <p:spPr>
              <a:xfrm>
                <a:off x="0" y="-57150"/>
                <a:ext cx="824498" cy="480982"/>
              </a:xfrm>
              <a:prstGeom prst="rect">
                <a:avLst/>
              </a:prstGeom>
            </p:spPr>
            <p:txBody>
              <a:bodyPr lIns="50800" tIns="50800" rIns="50800" bIns="50800" rtlCol="0" anchor="ctr"/>
              <a:lstStyle/>
              <a:p>
                <a:pPr algn="ctr">
                  <a:lnSpc>
                    <a:spcPts val="2939"/>
                  </a:lnSpc>
                </a:pPr>
                <a:r>
                  <a:rPr lang="en-US" sz="2099" b="1">
                    <a:solidFill>
                      <a:srgbClr val="FFFFFF"/>
                    </a:solidFill>
                    <a:latin typeface="Raleway Bold"/>
                    <a:ea typeface="Raleway Bold"/>
                    <a:cs typeface="Raleway Bold"/>
                    <a:sym typeface="Raleway Bold"/>
                  </a:rPr>
                  <a:t>WatchDuty Polygons</a:t>
                </a:r>
              </a:p>
              <a:p>
                <a:pPr algn="ctr">
                  <a:lnSpc>
                    <a:spcPts val="2944"/>
                  </a:lnSpc>
                </a:pPr>
                <a:r>
                  <a:rPr lang="en-US" sz="1600">
                    <a:solidFill>
                      <a:srgbClr val="FFFFFF"/>
                    </a:solidFill>
                    <a:latin typeface="Raleway"/>
                    <a:ea typeface="Raleway"/>
                    <a:cs typeface="Raleway"/>
                    <a:sym typeface="Raleway"/>
                  </a:rPr>
                  <a:t>Active fire perimeters + polygons</a:t>
                </a:r>
              </a:p>
            </p:txBody>
          </p:sp>
        </p:grpSp>
        <p:sp>
          <p:nvSpPr>
            <p:cNvPr id="36" name="AutoShape 36"/>
            <p:cNvSpPr/>
            <p:nvPr/>
          </p:nvSpPr>
          <p:spPr>
            <a:xfrm>
              <a:off x="9003974" y="2158223"/>
              <a:ext cx="470046" cy="215"/>
            </a:xfrm>
            <a:prstGeom prst="line">
              <a:avLst/>
            </a:prstGeom>
            <a:ln w="12451" cap="flat">
              <a:solidFill>
                <a:srgbClr val="000000"/>
              </a:solidFill>
              <a:prstDash val="solid"/>
              <a:headEnd type="none" w="sm" len="sm"/>
              <a:tailEnd type="triangle" w="lg" len="med"/>
            </a:ln>
          </p:spPr>
        </p:sp>
        <p:grpSp>
          <p:nvGrpSpPr>
            <p:cNvPr id="37" name="Group 37"/>
            <p:cNvGrpSpPr/>
            <p:nvPr/>
          </p:nvGrpSpPr>
          <p:grpSpPr>
            <a:xfrm>
              <a:off x="9586090" y="1081547"/>
              <a:ext cx="4092129" cy="2103550"/>
              <a:chOff x="0" y="0"/>
              <a:chExt cx="824498" cy="423832"/>
            </a:xfrm>
          </p:grpSpPr>
          <p:sp>
            <p:nvSpPr>
              <p:cNvPr id="38" name="Freeform 38"/>
              <p:cNvSpPr/>
              <p:nvPr/>
            </p:nvSpPr>
            <p:spPr>
              <a:xfrm>
                <a:off x="0" y="0"/>
                <a:ext cx="824498" cy="423832"/>
              </a:xfrm>
              <a:custGeom>
                <a:avLst/>
                <a:gdLst/>
                <a:ahLst/>
                <a:cxnLst/>
                <a:rect l="l" t="t" r="r" b="b"/>
                <a:pathLst>
                  <a:path w="824498" h="423832">
                    <a:moveTo>
                      <a:pt x="61826" y="0"/>
                    </a:moveTo>
                    <a:lnTo>
                      <a:pt x="762672" y="0"/>
                    </a:lnTo>
                    <a:cubicBezTo>
                      <a:pt x="779069" y="0"/>
                      <a:pt x="794795" y="6514"/>
                      <a:pt x="806390" y="18108"/>
                    </a:cubicBezTo>
                    <a:cubicBezTo>
                      <a:pt x="817984" y="29703"/>
                      <a:pt x="824498" y="45429"/>
                      <a:pt x="824498" y="61826"/>
                    </a:cubicBezTo>
                    <a:lnTo>
                      <a:pt x="824498" y="362005"/>
                    </a:lnTo>
                    <a:cubicBezTo>
                      <a:pt x="824498" y="378403"/>
                      <a:pt x="817984" y="394128"/>
                      <a:pt x="806390" y="405723"/>
                    </a:cubicBezTo>
                    <a:cubicBezTo>
                      <a:pt x="794795" y="417318"/>
                      <a:pt x="779069" y="423832"/>
                      <a:pt x="762672" y="423832"/>
                    </a:cubicBezTo>
                    <a:lnTo>
                      <a:pt x="61826" y="423832"/>
                    </a:lnTo>
                    <a:cubicBezTo>
                      <a:pt x="45429" y="423832"/>
                      <a:pt x="29703" y="417318"/>
                      <a:pt x="18108" y="405723"/>
                    </a:cubicBezTo>
                    <a:cubicBezTo>
                      <a:pt x="6514" y="394128"/>
                      <a:pt x="0" y="378403"/>
                      <a:pt x="0" y="362005"/>
                    </a:cubicBezTo>
                    <a:lnTo>
                      <a:pt x="0" y="61826"/>
                    </a:lnTo>
                    <a:cubicBezTo>
                      <a:pt x="0" y="45429"/>
                      <a:pt x="6514" y="29703"/>
                      <a:pt x="18108" y="18108"/>
                    </a:cubicBezTo>
                    <a:cubicBezTo>
                      <a:pt x="29703" y="6514"/>
                      <a:pt x="45429" y="0"/>
                      <a:pt x="61826" y="0"/>
                    </a:cubicBezTo>
                    <a:close/>
                  </a:path>
                </a:pathLst>
              </a:custGeom>
              <a:solidFill>
                <a:srgbClr val="154734"/>
              </a:solidFill>
              <a:ln w="9525" cap="rnd">
                <a:solidFill>
                  <a:srgbClr val="000000"/>
                </a:solidFill>
                <a:prstDash val="solid"/>
                <a:round/>
              </a:ln>
            </p:spPr>
          </p:sp>
          <p:sp>
            <p:nvSpPr>
              <p:cNvPr id="39" name="TextBox 39"/>
              <p:cNvSpPr txBox="1"/>
              <p:nvPr/>
            </p:nvSpPr>
            <p:spPr>
              <a:xfrm>
                <a:off x="0" y="-57150"/>
                <a:ext cx="824498" cy="480982"/>
              </a:xfrm>
              <a:prstGeom prst="rect">
                <a:avLst/>
              </a:prstGeom>
            </p:spPr>
            <p:txBody>
              <a:bodyPr lIns="50800" tIns="50800" rIns="50800" bIns="50800" rtlCol="0" anchor="ctr"/>
              <a:lstStyle/>
              <a:p>
                <a:pPr algn="ctr">
                  <a:lnSpc>
                    <a:spcPts val="2939"/>
                  </a:lnSpc>
                </a:pPr>
                <a:r>
                  <a:rPr lang="en-US" sz="2099" b="1">
                    <a:solidFill>
                      <a:srgbClr val="FFFFFF"/>
                    </a:solidFill>
                    <a:latin typeface="Raleway Bold"/>
                    <a:ea typeface="Raleway Bold"/>
                    <a:cs typeface="Raleway Bold"/>
                    <a:sym typeface="Raleway Bold"/>
                  </a:rPr>
                  <a:t>Haversine Distance</a:t>
                </a:r>
              </a:p>
              <a:p>
                <a:pPr algn="ctr">
                  <a:lnSpc>
                    <a:spcPts val="2240"/>
                  </a:lnSpc>
                </a:pPr>
                <a:r>
                  <a:rPr lang="en-US" sz="1600">
                    <a:solidFill>
                      <a:srgbClr val="FFFFFF"/>
                    </a:solidFill>
                    <a:latin typeface="Raleway"/>
                    <a:ea typeface="Raleway"/>
                    <a:cs typeface="Raleway"/>
                    <a:sym typeface="Raleway"/>
                  </a:rPr>
                  <a:t>User → newest perimeter (km) </a:t>
                </a:r>
              </a:p>
            </p:txBody>
          </p:sp>
        </p:grpSp>
        <p:sp>
          <p:nvSpPr>
            <p:cNvPr id="40" name="AutoShape 40"/>
            <p:cNvSpPr/>
            <p:nvPr/>
          </p:nvSpPr>
          <p:spPr>
            <a:xfrm>
              <a:off x="13802738" y="2158223"/>
              <a:ext cx="470046" cy="215"/>
            </a:xfrm>
            <a:prstGeom prst="line">
              <a:avLst/>
            </a:prstGeom>
            <a:ln w="12451" cap="flat">
              <a:solidFill>
                <a:srgbClr val="000000"/>
              </a:solidFill>
              <a:prstDash val="solid"/>
              <a:headEnd type="none" w="sm" len="sm"/>
              <a:tailEnd type="triangle" w="lg" len="med"/>
            </a:ln>
          </p:spPr>
        </p:sp>
        <p:grpSp>
          <p:nvGrpSpPr>
            <p:cNvPr id="41" name="Group 41"/>
            <p:cNvGrpSpPr/>
            <p:nvPr/>
          </p:nvGrpSpPr>
          <p:grpSpPr>
            <a:xfrm>
              <a:off x="14384853" y="1141863"/>
              <a:ext cx="4198972" cy="2043233"/>
              <a:chOff x="0" y="0"/>
              <a:chExt cx="846026" cy="411679"/>
            </a:xfrm>
          </p:grpSpPr>
          <p:sp>
            <p:nvSpPr>
              <p:cNvPr id="42" name="Freeform 42"/>
              <p:cNvSpPr/>
              <p:nvPr/>
            </p:nvSpPr>
            <p:spPr>
              <a:xfrm>
                <a:off x="0" y="0"/>
                <a:ext cx="846026" cy="411679"/>
              </a:xfrm>
              <a:custGeom>
                <a:avLst/>
                <a:gdLst/>
                <a:ahLst/>
                <a:cxnLst/>
                <a:rect l="l" t="t" r="r" b="b"/>
                <a:pathLst>
                  <a:path w="846026" h="411679">
                    <a:moveTo>
                      <a:pt x="60253" y="0"/>
                    </a:moveTo>
                    <a:lnTo>
                      <a:pt x="785773" y="0"/>
                    </a:lnTo>
                    <a:cubicBezTo>
                      <a:pt x="819049" y="0"/>
                      <a:pt x="846026" y="26976"/>
                      <a:pt x="846026" y="60253"/>
                    </a:cubicBezTo>
                    <a:lnTo>
                      <a:pt x="846026" y="351426"/>
                    </a:lnTo>
                    <a:cubicBezTo>
                      <a:pt x="846026" y="384703"/>
                      <a:pt x="819049" y="411679"/>
                      <a:pt x="785773" y="411679"/>
                    </a:cubicBezTo>
                    <a:lnTo>
                      <a:pt x="60253" y="411679"/>
                    </a:lnTo>
                    <a:cubicBezTo>
                      <a:pt x="26976" y="411679"/>
                      <a:pt x="0" y="384703"/>
                      <a:pt x="0" y="351426"/>
                    </a:cubicBezTo>
                    <a:lnTo>
                      <a:pt x="0" y="60253"/>
                    </a:lnTo>
                    <a:cubicBezTo>
                      <a:pt x="0" y="26976"/>
                      <a:pt x="26976" y="0"/>
                      <a:pt x="60253" y="0"/>
                    </a:cubicBezTo>
                    <a:close/>
                  </a:path>
                </a:pathLst>
              </a:custGeom>
              <a:solidFill>
                <a:srgbClr val="DB4A2B"/>
              </a:solidFill>
              <a:ln w="9525" cap="rnd">
                <a:solidFill>
                  <a:srgbClr val="000000"/>
                </a:solidFill>
                <a:prstDash val="solid"/>
                <a:round/>
              </a:ln>
            </p:spPr>
          </p:sp>
          <p:sp>
            <p:nvSpPr>
              <p:cNvPr id="43" name="TextBox 43"/>
              <p:cNvSpPr txBox="1"/>
              <p:nvPr/>
            </p:nvSpPr>
            <p:spPr>
              <a:xfrm>
                <a:off x="0" y="-57150"/>
                <a:ext cx="846026" cy="468829"/>
              </a:xfrm>
              <a:prstGeom prst="rect">
                <a:avLst/>
              </a:prstGeom>
            </p:spPr>
            <p:txBody>
              <a:bodyPr lIns="50800" tIns="50800" rIns="50800" bIns="50800" rtlCol="0" anchor="ctr"/>
              <a:lstStyle/>
              <a:p>
                <a:pPr algn="ctr">
                  <a:lnSpc>
                    <a:spcPts val="2939"/>
                  </a:lnSpc>
                </a:pPr>
                <a:r>
                  <a:rPr lang="en-US" sz="2099" b="1" dirty="0">
                    <a:solidFill>
                      <a:srgbClr val="FFFFFF"/>
                    </a:solidFill>
                    <a:latin typeface="Raleway Bold"/>
                    <a:ea typeface="Raleway Bold"/>
                    <a:cs typeface="Raleway Bold"/>
                    <a:sym typeface="Raleway Bold"/>
                  </a:rPr>
                  <a:t>Danger Bin</a:t>
                </a:r>
              </a:p>
              <a:p>
                <a:pPr algn="ctr">
                  <a:lnSpc>
                    <a:spcPts val="2100"/>
                  </a:lnSpc>
                </a:pPr>
                <a:r>
                  <a:rPr lang="en-US" sz="1500" dirty="0">
                    <a:solidFill>
                      <a:srgbClr val="FFFFFF"/>
                    </a:solidFill>
                    <a:latin typeface="Raleway"/>
                    <a:ea typeface="Raleway"/>
                    <a:cs typeface="Raleway"/>
                    <a:sym typeface="Raleway"/>
                  </a:rPr>
                  <a:t>LOW/MEDIUM/HIGH/CRITICAL</a:t>
                </a:r>
              </a:p>
            </p:txBody>
          </p:sp>
        </p:grpSp>
        <p:sp>
          <p:nvSpPr>
            <p:cNvPr id="44" name="AutoShape 44"/>
            <p:cNvSpPr/>
            <p:nvPr/>
          </p:nvSpPr>
          <p:spPr>
            <a:xfrm>
              <a:off x="18708349" y="2158223"/>
              <a:ext cx="353894" cy="215"/>
            </a:xfrm>
            <a:prstGeom prst="line">
              <a:avLst/>
            </a:prstGeom>
            <a:ln w="12451" cap="flat">
              <a:solidFill>
                <a:srgbClr val="000000"/>
              </a:solidFill>
              <a:prstDash val="solid"/>
              <a:headEnd type="none" w="sm" len="sm"/>
              <a:tailEnd type="triangle" w="lg" len="med"/>
            </a:ln>
          </p:spPr>
        </p:sp>
        <p:grpSp>
          <p:nvGrpSpPr>
            <p:cNvPr id="45" name="Group 45"/>
            <p:cNvGrpSpPr/>
            <p:nvPr/>
          </p:nvGrpSpPr>
          <p:grpSpPr>
            <a:xfrm>
              <a:off x="19146619" y="1141863"/>
              <a:ext cx="3161373" cy="2043233"/>
              <a:chOff x="0" y="0"/>
              <a:chExt cx="636966" cy="411679"/>
            </a:xfrm>
          </p:grpSpPr>
          <p:sp>
            <p:nvSpPr>
              <p:cNvPr id="46" name="Freeform 46"/>
              <p:cNvSpPr/>
              <p:nvPr/>
            </p:nvSpPr>
            <p:spPr>
              <a:xfrm>
                <a:off x="0" y="0"/>
                <a:ext cx="636966" cy="411679"/>
              </a:xfrm>
              <a:custGeom>
                <a:avLst/>
                <a:gdLst/>
                <a:ahLst/>
                <a:cxnLst/>
                <a:rect l="l" t="t" r="r" b="b"/>
                <a:pathLst>
                  <a:path w="636966" h="411679">
                    <a:moveTo>
                      <a:pt x="80029" y="0"/>
                    </a:moveTo>
                    <a:lnTo>
                      <a:pt x="556937" y="0"/>
                    </a:lnTo>
                    <a:cubicBezTo>
                      <a:pt x="601136" y="0"/>
                      <a:pt x="636966" y="35830"/>
                      <a:pt x="636966" y="80029"/>
                    </a:cubicBezTo>
                    <a:lnTo>
                      <a:pt x="636966" y="331650"/>
                    </a:lnTo>
                    <a:cubicBezTo>
                      <a:pt x="636966" y="375849"/>
                      <a:pt x="601136" y="411679"/>
                      <a:pt x="556937" y="411679"/>
                    </a:cubicBezTo>
                    <a:lnTo>
                      <a:pt x="80029" y="411679"/>
                    </a:lnTo>
                    <a:cubicBezTo>
                      <a:pt x="35830" y="411679"/>
                      <a:pt x="0" y="375849"/>
                      <a:pt x="0" y="331650"/>
                    </a:cubicBezTo>
                    <a:lnTo>
                      <a:pt x="0" y="80029"/>
                    </a:lnTo>
                    <a:cubicBezTo>
                      <a:pt x="0" y="35830"/>
                      <a:pt x="35830" y="0"/>
                      <a:pt x="80029" y="0"/>
                    </a:cubicBezTo>
                    <a:close/>
                  </a:path>
                </a:pathLst>
              </a:custGeom>
              <a:solidFill>
                <a:srgbClr val="154734"/>
              </a:solidFill>
              <a:ln w="9525" cap="rnd">
                <a:solidFill>
                  <a:srgbClr val="000000"/>
                </a:solidFill>
                <a:prstDash val="solid"/>
                <a:round/>
              </a:ln>
            </p:spPr>
          </p:sp>
          <p:sp>
            <p:nvSpPr>
              <p:cNvPr id="47" name="TextBox 47"/>
              <p:cNvSpPr txBox="1"/>
              <p:nvPr/>
            </p:nvSpPr>
            <p:spPr>
              <a:xfrm>
                <a:off x="0" y="-57150"/>
                <a:ext cx="636966" cy="468829"/>
              </a:xfrm>
              <a:prstGeom prst="rect">
                <a:avLst/>
              </a:prstGeom>
            </p:spPr>
            <p:txBody>
              <a:bodyPr lIns="50800" tIns="50800" rIns="50800" bIns="50800" rtlCol="0" anchor="ctr"/>
              <a:lstStyle/>
              <a:p>
                <a:pPr algn="ctr">
                  <a:lnSpc>
                    <a:spcPts val="2939"/>
                  </a:lnSpc>
                </a:pPr>
                <a:r>
                  <a:rPr lang="en-US" sz="2099" b="1" dirty="0">
                    <a:solidFill>
                      <a:srgbClr val="FFFFFF"/>
                    </a:solidFill>
                    <a:latin typeface="Raleway Bold"/>
                    <a:ea typeface="Raleway Bold"/>
                    <a:cs typeface="Raleway Bold"/>
                    <a:sym typeface="Raleway Bold"/>
                  </a:rPr>
                  <a:t>Agent Response</a:t>
                </a:r>
              </a:p>
              <a:p>
                <a:pPr algn="ctr">
                  <a:lnSpc>
                    <a:spcPts val="2240"/>
                  </a:lnSpc>
                </a:pPr>
                <a:r>
                  <a:rPr lang="en-US" sz="1600" dirty="0">
                    <a:solidFill>
                      <a:srgbClr val="FFFFFF"/>
                    </a:solidFill>
                    <a:latin typeface="Raleway"/>
                    <a:ea typeface="Raleway"/>
                    <a:cs typeface="Raleway"/>
                    <a:sym typeface="Raleway"/>
                  </a:rPr>
                  <a:t>Tone + checklist severity</a:t>
                </a:r>
              </a:p>
            </p:txBody>
          </p:sp>
        </p:grpSp>
        <p:grpSp>
          <p:nvGrpSpPr>
            <p:cNvPr id="48" name="Group 48"/>
            <p:cNvGrpSpPr/>
            <p:nvPr/>
          </p:nvGrpSpPr>
          <p:grpSpPr>
            <a:xfrm>
              <a:off x="0" y="3757835"/>
              <a:ext cx="5163981" cy="2502379"/>
              <a:chOff x="0" y="0"/>
              <a:chExt cx="1040459" cy="504189"/>
            </a:xfrm>
          </p:grpSpPr>
          <p:sp>
            <p:nvSpPr>
              <p:cNvPr id="49" name="Freeform 49"/>
              <p:cNvSpPr/>
              <p:nvPr/>
            </p:nvSpPr>
            <p:spPr>
              <a:xfrm>
                <a:off x="0" y="0"/>
                <a:ext cx="1040459" cy="504189"/>
              </a:xfrm>
              <a:custGeom>
                <a:avLst/>
                <a:gdLst/>
                <a:ahLst/>
                <a:cxnLst/>
                <a:rect l="l" t="t" r="r" b="b"/>
                <a:pathLst>
                  <a:path w="1040459" h="504189">
                    <a:moveTo>
                      <a:pt x="48993" y="0"/>
                    </a:moveTo>
                    <a:lnTo>
                      <a:pt x="991466" y="0"/>
                    </a:lnTo>
                    <a:cubicBezTo>
                      <a:pt x="1004460" y="0"/>
                      <a:pt x="1016922" y="5162"/>
                      <a:pt x="1026110" y="14350"/>
                    </a:cubicBezTo>
                    <a:cubicBezTo>
                      <a:pt x="1035298" y="23538"/>
                      <a:pt x="1040459" y="36000"/>
                      <a:pt x="1040459" y="48993"/>
                    </a:cubicBezTo>
                    <a:lnTo>
                      <a:pt x="1040459" y="455196"/>
                    </a:lnTo>
                    <a:cubicBezTo>
                      <a:pt x="1040459" y="482254"/>
                      <a:pt x="1018524" y="504189"/>
                      <a:pt x="991466" y="504189"/>
                    </a:cubicBezTo>
                    <a:lnTo>
                      <a:pt x="48993" y="504189"/>
                    </a:lnTo>
                    <a:cubicBezTo>
                      <a:pt x="36000" y="504189"/>
                      <a:pt x="23538" y="499027"/>
                      <a:pt x="14350" y="489839"/>
                    </a:cubicBezTo>
                    <a:cubicBezTo>
                      <a:pt x="5162" y="480651"/>
                      <a:pt x="0" y="468190"/>
                      <a:pt x="0" y="455196"/>
                    </a:cubicBezTo>
                    <a:lnTo>
                      <a:pt x="0" y="48993"/>
                    </a:lnTo>
                    <a:cubicBezTo>
                      <a:pt x="0" y="21935"/>
                      <a:pt x="21935" y="0"/>
                      <a:pt x="48993" y="0"/>
                    </a:cubicBezTo>
                    <a:close/>
                  </a:path>
                </a:pathLst>
              </a:custGeom>
              <a:solidFill>
                <a:srgbClr val="EAF5EE"/>
              </a:solidFill>
              <a:ln w="9525" cap="rnd">
                <a:solidFill>
                  <a:srgbClr val="000000"/>
                </a:solidFill>
                <a:prstDash val="solid"/>
                <a:round/>
              </a:ln>
            </p:spPr>
          </p:sp>
          <p:sp>
            <p:nvSpPr>
              <p:cNvPr id="50" name="TextBox 50"/>
              <p:cNvSpPr txBox="1"/>
              <p:nvPr/>
            </p:nvSpPr>
            <p:spPr>
              <a:xfrm>
                <a:off x="0" y="-57150"/>
                <a:ext cx="1040459" cy="561339"/>
              </a:xfrm>
              <a:prstGeom prst="rect">
                <a:avLst/>
              </a:prstGeom>
            </p:spPr>
            <p:txBody>
              <a:bodyPr lIns="50800" tIns="50800" rIns="50800" bIns="50800" rtlCol="0" anchor="ctr"/>
              <a:lstStyle/>
              <a:p>
                <a:pPr algn="ctr">
                  <a:lnSpc>
                    <a:spcPts val="2939"/>
                  </a:lnSpc>
                </a:pPr>
                <a:r>
                  <a:rPr lang="en-US" sz="2099" b="1">
                    <a:solidFill>
                      <a:srgbClr val="1A5C2A"/>
                    </a:solidFill>
                    <a:latin typeface="Raleway Bold"/>
                    <a:ea typeface="Raleway Bold"/>
                    <a:cs typeface="Raleway Bold"/>
                    <a:sym typeface="Raleway Bold"/>
                  </a:rPr>
                  <a:t>LOW</a:t>
                </a:r>
              </a:p>
              <a:p>
                <a:pPr algn="ctr">
                  <a:lnSpc>
                    <a:spcPts val="2240"/>
                  </a:lnSpc>
                </a:pPr>
                <a:r>
                  <a:rPr lang="en-US" sz="1600">
                    <a:solidFill>
                      <a:srgbClr val="1A5C2A"/>
                    </a:solidFill>
                    <a:latin typeface="Raleway"/>
                    <a:ea typeface="Raleway"/>
                    <a:cs typeface="Raleway"/>
                    <a:sym typeface="Raleway"/>
                  </a:rPr>
                  <a:t>General preparedness tips </a:t>
                </a:r>
              </a:p>
            </p:txBody>
          </p:sp>
        </p:grpSp>
        <p:grpSp>
          <p:nvGrpSpPr>
            <p:cNvPr id="51" name="Group 51"/>
            <p:cNvGrpSpPr/>
            <p:nvPr/>
          </p:nvGrpSpPr>
          <p:grpSpPr>
            <a:xfrm>
              <a:off x="5686755" y="3757835"/>
              <a:ext cx="5163981" cy="2502379"/>
              <a:chOff x="0" y="0"/>
              <a:chExt cx="1040459" cy="504189"/>
            </a:xfrm>
          </p:grpSpPr>
          <p:sp>
            <p:nvSpPr>
              <p:cNvPr id="52" name="Freeform 52"/>
              <p:cNvSpPr/>
              <p:nvPr/>
            </p:nvSpPr>
            <p:spPr>
              <a:xfrm>
                <a:off x="0" y="0"/>
                <a:ext cx="1040459" cy="504189"/>
              </a:xfrm>
              <a:custGeom>
                <a:avLst/>
                <a:gdLst/>
                <a:ahLst/>
                <a:cxnLst/>
                <a:rect l="l" t="t" r="r" b="b"/>
                <a:pathLst>
                  <a:path w="1040459" h="504189">
                    <a:moveTo>
                      <a:pt x="48993" y="0"/>
                    </a:moveTo>
                    <a:lnTo>
                      <a:pt x="991466" y="0"/>
                    </a:lnTo>
                    <a:cubicBezTo>
                      <a:pt x="1004460" y="0"/>
                      <a:pt x="1016922" y="5162"/>
                      <a:pt x="1026110" y="14350"/>
                    </a:cubicBezTo>
                    <a:cubicBezTo>
                      <a:pt x="1035298" y="23538"/>
                      <a:pt x="1040459" y="36000"/>
                      <a:pt x="1040459" y="48993"/>
                    </a:cubicBezTo>
                    <a:lnTo>
                      <a:pt x="1040459" y="455196"/>
                    </a:lnTo>
                    <a:cubicBezTo>
                      <a:pt x="1040459" y="482254"/>
                      <a:pt x="1018524" y="504189"/>
                      <a:pt x="991466" y="504189"/>
                    </a:cubicBezTo>
                    <a:lnTo>
                      <a:pt x="48993" y="504189"/>
                    </a:lnTo>
                    <a:cubicBezTo>
                      <a:pt x="36000" y="504189"/>
                      <a:pt x="23538" y="499027"/>
                      <a:pt x="14350" y="489839"/>
                    </a:cubicBezTo>
                    <a:cubicBezTo>
                      <a:pt x="5162" y="480651"/>
                      <a:pt x="0" y="468190"/>
                      <a:pt x="0" y="455196"/>
                    </a:cubicBezTo>
                    <a:lnTo>
                      <a:pt x="0" y="48993"/>
                    </a:lnTo>
                    <a:cubicBezTo>
                      <a:pt x="0" y="21935"/>
                      <a:pt x="21935" y="0"/>
                      <a:pt x="48993" y="0"/>
                    </a:cubicBezTo>
                    <a:close/>
                  </a:path>
                </a:pathLst>
              </a:custGeom>
              <a:solidFill>
                <a:srgbClr val="FEF8E7"/>
              </a:solidFill>
              <a:ln w="9525" cap="rnd">
                <a:solidFill>
                  <a:srgbClr val="000000"/>
                </a:solidFill>
                <a:prstDash val="solid"/>
                <a:round/>
              </a:ln>
            </p:spPr>
          </p:sp>
          <p:sp>
            <p:nvSpPr>
              <p:cNvPr id="53" name="TextBox 53"/>
              <p:cNvSpPr txBox="1"/>
              <p:nvPr/>
            </p:nvSpPr>
            <p:spPr>
              <a:xfrm>
                <a:off x="0" y="-57150"/>
                <a:ext cx="1040459" cy="561339"/>
              </a:xfrm>
              <a:prstGeom prst="rect">
                <a:avLst/>
              </a:prstGeom>
            </p:spPr>
            <p:txBody>
              <a:bodyPr lIns="50800" tIns="50800" rIns="50800" bIns="50800" rtlCol="0" anchor="ctr"/>
              <a:lstStyle/>
              <a:p>
                <a:pPr algn="ctr">
                  <a:lnSpc>
                    <a:spcPts val="2939"/>
                  </a:lnSpc>
                </a:pPr>
                <a:r>
                  <a:rPr lang="en-US" sz="2099" b="1">
                    <a:solidFill>
                      <a:srgbClr val="7A5A00"/>
                    </a:solidFill>
                    <a:latin typeface="Raleway Bold"/>
                    <a:ea typeface="Raleway Bold"/>
                    <a:cs typeface="Raleway Bold"/>
                    <a:sym typeface="Raleway Bold"/>
                  </a:rPr>
                  <a:t>MEDIUM</a:t>
                </a:r>
              </a:p>
              <a:p>
                <a:pPr algn="ctr">
                  <a:lnSpc>
                    <a:spcPts val="2240"/>
                  </a:lnSpc>
                </a:pPr>
                <a:r>
                  <a:rPr lang="en-US" sz="1600">
                    <a:solidFill>
                      <a:srgbClr val="9A7820"/>
                    </a:solidFill>
                    <a:latin typeface="Raleway"/>
                    <a:ea typeface="Raleway"/>
                    <a:cs typeface="Raleway"/>
                    <a:sym typeface="Raleway"/>
                  </a:rPr>
                  <a:t>Prepare a go bag, stay alert</a:t>
                </a:r>
              </a:p>
            </p:txBody>
          </p:sp>
        </p:grpSp>
        <p:grpSp>
          <p:nvGrpSpPr>
            <p:cNvPr id="54" name="Group 54"/>
            <p:cNvGrpSpPr/>
            <p:nvPr/>
          </p:nvGrpSpPr>
          <p:grpSpPr>
            <a:xfrm>
              <a:off x="11373671" y="3757835"/>
              <a:ext cx="5163981" cy="2502379"/>
              <a:chOff x="0" y="0"/>
              <a:chExt cx="1040459" cy="504189"/>
            </a:xfrm>
          </p:grpSpPr>
          <p:sp>
            <p:nvSpPr>
              <p:cNvPr id="55" name="Freeform 55"/>
              <p:cNvSpPr/>
              <p:nvPr/>
            </p:nvSpPr>
            <p:spPr>
              <a:xfrm>
                <a:off x="0" y="0"/>
                <a:ext cx="1040459" cy="504189"/>
              </a:xfrm>
              <a:custGeom>
                <a:avLst/>
                <a:gdLst/>
                <a:ahLst/>
                <a:cxnLst/>
                <a:rect l="l" t="t" r="r" b="b"/>
                <a:pathLst>
                  <a:path w="1040459" h="504189">
                    <a:moveTo>
                      <a:pt x="48993" y="0"/>
                    </a:moveTo>
                    <a:lnTo>
                      <a:pt x="991466" y="0"/>
                    </a:lnTo>
                    <a:cubicBezTo>
                      <a:pt x="1004460" y="0"/>
                      <a:pt x="1016922" y="5162"/>
                      <a:pt x="1026110" y="14350"/>
                    </a:cubicBezTo>
                    <a:cubicBezTo>
                      <a:pt x="1035298" y="23538"/>
                      <a:pt x="1040459" y="36000"/>
                      <a:pt x="1040459" y="48993"/>
                    </a:cubicBezTo>
                    <a:lnTo>
                      <a:pt x="1040459" y="455196"/>
                    </a:lnTo>
                    <a:cubicBezTo>
                      <a:pt x="1040459" y="482254"/>
                      <a:pt x="1018524" y="504189"/>
                      <a:pt x="991466" y="504189"/>
                    </a:cubicBezTo>
                    <a:lnTo>
                      <a:pt x="48993" y="504189"/>
                    </a:lnTo>
                    <a:cubicBezTo>
                      <a:pt x="36000" y="504189"/>
                      <a:pt x="23538" y="499027"/>
                      <a:pt x="14350" y="489839"/>
                    </a:cubicBezTo>
                    <a:cubicBezTo>
                      <a:pt x="5162" y="480651"/>
                      <a:pt x="0" y="468190"/>
                      <a:pt x="0" y="455196"/>
                    </a:cubicBezTo>
                    <a:lnTo>
                      <a:pt x="0" y="48993"/>
                    </a:lnTo>
                    <a:cubicBezTo>
                      <a:pt x="0" y="21935"/>
                      <a:pt x="21935" y="0"/>
                      <a:pt x="48993" y="0"/>
                    </a:cubicBezTo>
                    <a:close/>
                  </a:path>
                </a:pathLst>
              </a:custGeom>
              <a:solidFill>
                <a:srgbClr val="FEF0E0"/>
              </a:solidFill>
              <a:ln w="9525" cap="rnd">
                <a:solidFill>
                  <a:srgbClr val="000000"/>
                </a:solidFill>
                <a:prstDash val="solid"/>
                <a:round/>
              </a:ln>
            </p:spPr>
          </p:sp>
          <p:sp>
            <p:nvSpPr>
              <p:cNvPr id="56" name="TextBox 56"/>
              <p:cNvSpPr txBox="1"/>
              <p:nvPr/>
            </p:nvSpPr>
            <p:spPr>
              <a:xfrm>
                <a:off x="0" y="-57150"/>
                <a:ext cx="1040459" cy="561339"/>
              </a:xfrm>
              <a:prstGeom prst="rect">
                <a:avLst/>
              </a:prstGeom>
            </p:spPr>
            <p:txBody>
              <a:bodyPr lIns="50800" tIns="50800" rIns="50800" bIns="50800" rtlCol="0" anchor="ctr"/>
              <a:lstStyle/>
              <a:p>
                <a:pPr algn="ctr">
                  <a:lnSpc>
                    <a:spcPts val="2939"/>
                  </a:lnSpc>
                </a:pPr>
                <a:r>
                  <a:rPr lang="en-US" sz="2099" b="1">
                    <a:solidFill>
                      <a:srgbClr val="8A3A00"/>
                    </a:solidFill>
                    <a:latin typeface="Raleway Bold"/>
                    <a:ea typeface="Raleway Bold"/>
                    <a:cs typeface="Raleway Bold"/>
                    <a:sym typeface="Raleway Bold"/>
                  </a:rPr>
                  <a:t>HIGH</a:t>
                </a:r>
              </a:p>
              <a:p>
                <a:pPr algn="ctr">
                  <a:lnSpc>
                    <a:spcPts val="2240"/>
                  </a:lnSpc>
                </a:pPr>
                <a:r>
                  <a:rPr lang="en-US" sz="1600">
                    <a:solidFill>
                      <a:srgbClr val="A05010"/>
                    </a:solidFill>
                    <a:latin typeface="Raleway"/>
                    <a:ea typeface="Raleway"/>
                    <a:cs typeface="Raleway"/>
                    <a:sym typeface="Raleway"/>
                  </a:rPr>
                  <a:t>Evacuate now, evacuation zones nearby</a:t>
                </a:r>
              </a:p>
            </p:txBody>
          </p:sp>
        </p:grpSp>
        <p:grpSp>
          <p:nvGrpSpPr>
            <p:cNvPr id="57" name="Group 57"/>
            <p:cNvGrpSpPr/>
            <p:nvPr/>
          </p:nvGrpSpPr>
          <p:grpSpPr>
            <a:xfrm>
              <a:off x="17144011" y="3757835"/>
              <a:ext cx="5163981" cy="2502379"/>
              <a:chOff x="0" y="0"/>
              <a:chExt cx="1040459" cy="504189"/>
            </a:xfrm>
          </p:grpSpPr>
          <p:sp>
            <p:nvSpPr>
              <p:cNvPr id="58" name="Freeform 58"/>
              <p:cNvSpPr/>
              <p:nvPr/>
            </p:nvSpPr>
            <p:spPr>
              <a:xfrm>
                <a:off x="0" y="0"/>
                <a:ext cx="1040459" cy="504189"/>
              </a:xfrm>
              <a:custGeom>
                <a:avLst/>
                <a:gdLst/>
                <a:ahLst/>
                <a:cxnLst/>
                <a:rect l="l" t="t" r="r" b="b"/>
                <a:pathLst>
                  <a:path w="1040459" h="504189">
                    <a:moveTo>
                      <a:pt x="48993" y="0"/>
                    </a:moveTo>
                    <a:lnTo>
                      <a:pt x="991466" y="0"/>
                    </a:lnTo>
                    <a:cubicBezTo>
                      <a:pt x="1004460" y="0"/>
                      <a:pt x="1016922" y="5162"/>
                      <a:pt x="1026110" y="14350"/>
                    </a:cubicBezTo>
                    <a:cubicBezTo>
                      <a:pt x="1035298" y="23538"/>
                      <a:pt x="1040459" y="36000"/>
                      <a:pt x="1040459" y="48993"/>
                    </a:cubicBezTo>
                    <a:lnTo>
                      <a:pt x="1040459" y="455196"/>
                    </a:lnTo>
                    <a:cubicBezTo>
                      <a:pt x="1040459" y="482254"/>
                      <a:pt x="1018524" y="504189"/>
                      <a:pt x="991466" y="504189"/>
                    </a:cubicBezTo>
                    <a:lnTo>
                      <a:pt x="48993" y="504189"/>
                    </a:lnTo>
                    <a:cubicBezTo>
                      <a:pt x="36000" y="504189"/>
                      <a:pt x="23538" y="499027"/>
                      <a:pt x="14350" y="489839"/>
                    </a:cubicBezTo>
                    <a:cubicBezTo>
                      <a:pt x="5162" y="480651"/>
                      <a:pt x="0" y="468190"/>
                      <a:pt x="0" y="455196"/>
                    </a:cubicBezTo>
                    <a:lnTo>
                      <a:pt x="0" y="48993"/>
                    </a:lnTo>
                    <a:cubicBezTo>
                      <a:pt x="0" y="21935"/>
                      <a:pt x="21935" y="0"/>
                      <a:pt x="48993" y="0"/>
                    </a:cubicBezTo>
                    <a:close/>
                  </a:path>
                </a:pathLst>
              </a:custGeom>
              <a:solidFill>
                <a:srgbClr val="FDECEA"/>
              </a:solidFill>
              <a:ln w="9525" cap="rnd">
                <a:solidFill>
                  <a:srgbClr val="000000"/>
                </a:solidFill>
                <a:prstDash val="solid"/>
                <a:round/>
              </a:ln>
            </p:spPr>
            <p:txBody>
              <a:bodyPr/>
              <a:lstStyle/>
              <a:p>
                <a:endParaRPr lang="en-US" dirty="0"/>
              </a:p>
            </p:txBody>
          </p:sp>
          <p:sp>
            <p:nvSpPr>
              <p:cNvPr id="59" name="TextBox 59"/>
              <p:cNvSpPr txBox="1"/>
              <p:nvPr/>
            </p:nvSpPr>
            <p:spPr>
              <a:xfrm>
                <a:off x="0" y="-57150"/>
                <a:ext cx="1040459" cy="561339"/>
              </a:xfrm>
              <a:prstGeom prst="rect">
                <a:avLst/>
              </a:prstGeom>
            </p:spPr>
            <p:txBody>
              <a:bodyPr lIns="50800" tIns="50800" rIns="50800" bIns="50800" rtlCol="0" anchor="ctr"/>
              <a:lstStyle/>
              <a:p>
                <a:pPr algn="ctr">
                  <a:lnSpc>
                    <a:spcPts val="2939"/>
                  </a:lnSpc>
                </a:pPr>
                <a:r>
                  <a:rPr lang="en-US" sz="2099" b="1" dirty="0">
                    <a:solidFill>
                      <a:srgbClr val="8A1A1A"/>
                    </a:solidFill>
                    <a:latin typeface="Raleway Bold"/>
                    <a:ea typeface="Raleway Bold"/>
                    <a:cs typeface="Raleway Bold"/>
                    <a:sym typeface="Raleway Bold"/>
                  </a:rPr>
                  <a:t>CRITICAL</a:t>
                </a:r>
              </a:p>
              <a:p>
                <a:pPr algn="ctr">
                  <a:lnSpc>
                    <a:spcPts val="2240"/>
                  </a:lnSpc>
                </a:pPr>
                <a:r>
                  <a:rPr lang="en-US" sz="1600" dirty="0">
                    <a:solidFill>
                      <a:srgbClr val="B03030"/>
                    </a:solidFill>
                    <a:latin typeface="Raleway"/>
                    <a:ea typeface="Raleway"/>
                    <a:cs typeface="Raleway"/>
                    <a:sym typeface="Raleway"/>
                  </a:rPr>
                  <a:t>Call    911, no safe routes available</a:t>
                </a:r>
              </a:p>
            </p:txBody>
          </p:sp>
        </p:grpSp>
        <p:grpSp>
          <p:nvGrpSpPr>
            <p:cNvPr id="60" name="Group 60"/>
            <p:cNvGrpSpPr/>
            <p:nvPr/>
          </p:nvGrpSpPr>
          <p:grpSpPr>
            <a:xfrm>
              <a:off x="0" y="6559033"/>
              <a:ext cx="22307986" cy="2022003"/>
              <a:chOff x="0" y="0"/>
              <a:chExt cx="4494701" cy="407401"/>
            </a:xfrm>
          </p:grpSpPr>
          <p:sp>
            <p:nvSpPr>
              <p:cNvPr id="61" name="Freeform 61"/>
              <p:cNvSpPr/>
              <p:nvPr/>
            </p:nvSpPr>
            <p:spPr>
              <a:xfrm>
                <a:off x="0" y="0"/>
                <a:ext cx="4494701" cy="407401"/>
              </a:xfrm>
              <a:custGeom>
                <a:avLst/>
                <a:gdLst/>
                <a:ahLst/>
                <a:cxnLst/>
                <a:rect l="l" t="t" r="r" b="b"/>
                <a:pathLst>
                  <a:path w="4494701" h="407401">
                    <a:moveTo>
                      <a:pt x="14063" y="0"/>
                    </a:moveTo>
                    <a:lnTo>
                      <a:pt x="4480638" y="0"/>
                    </a:lnTo>
                    <a:cubicBezTo>
                      <a:pt x="4484368" y="0"/>
                      <a:pt x="4487945" y="1482"/>
                      <a:pt x="4490582" y="4119"/>
                    </a:cubicBezTo>
                    <a:cubicBezTo>
                      <a:pt x="4493220" y="6756"/>
                      <a:pt x="4494701" y="10333"/>
                      <a:pt x="4494701" y="14063"/>
                    </a:cubicBezTo>
                    <a:lnTo>
                      <a:pt x="4494701" y="393338"/>
                    </a:lnTo>
                    <a:cubicBezTo>
                      <a:pt x="4494701" y="401105"/>
                      <a:pt x="4488405" y="407401"/>
                      <a:pt x="4480638" y="407401"/>
                    </a:cubicBezTo>
                    <a:lnTo>
                      <a:pt x="14063" y="407401"/>
                    </a:lnTo>
                    <a:cubicBezTo>
                      <a:pt x="6296" y="407401"/>
                      <a:pt x="0" y="401105"/>
                      <a:pt x="0" y="393338"/>
                    </a:cubicBezTo>
                    <a:lnTo>
                      <a:pt x="0" y="14063"/>
                    </a:lnTo>
                    <a:cubicBezTo>
                      <a:pt x="0" y="6296"/>
                      <a:pt x="6296" y="0"/>
                      <a:pt x="14063" y="0"/>
                    </a:cubicBezTo>
                    <a:close/>
                  </a:path>
                </a:pathLst>
              </a:custGeom>
              <a:solidFill>
                <a:srgbClr val="DB5A3F"/>
              </a:solidFill>
              <a:ln w="9525" cap="rnd">
                <a:solidFill>
                  <a:srgbClr val="000000"/>
                </a:solidFill>
                <a:prstDash val="solid"/>
                <a:round/>
              </a:ln>
            </p:spPr>
          </p:sp>
          <p:sp>
            <p:nvSpPr>
              <p:cNvPr id="62" name="TextBox 62"/>
              <p:cNvSpPr txBox="1"/>
              <p:nvPr/>
            </p:nvSpPr>
            <p:spPr>
              <a:xfrm>
                <a:off x="0" y="-57150"/>
                <a:ext cx="4494701" cy="464551"/>
              </a:xfrm>
              <a:prstGeom prst="rect">
                <a:avLst/>
              </a:prstGeom>
            </p:spPr>
            <p:txBody>
              <a:bodyPr lIns="50800" tIns="50800" rIns="50800" bIns="50800" rtlCol="0" anchor="ctr"/>
              <a:lstStyle/>
              <a:p>
                <a:pPr algn="ctr">
                  <a:lnSpc>
                    <a:spcPts val="2800"/>
                  </a:lnSpc>
                </a:pPr>
                <a:endParaRPr/>
              </a:p>
            </p:txBody>
          </p:sp>
        </p:grpSp>
        <p:grpSp>
          <p:nvGrpSpPr>
            <p:cNvPr id="63" name="Group 63"/>
            <p:cNvGrpSpPr/>
            <p:nvPr/>
          </p:nvGrpSpPr>
          <p:grpSpPr>
            <a:xfrm>
              <a:off x="99654" y="6559033"/>
              <a:ext cx="22208339" cy="2022003"/>
              <a:chOff x="0" y="0"/>
              <a:chExt cx="4474624" cy="407401"/>
            </a:xfrm>
          </p:grpSpPr>
          <p:sp>
            <p:nvSpPr>
              <p:cNvPr id="64" name="Freeform 64"/>
              <p:cNvSpPr/>
              <p:nvPr/>
            </p:nvSpPr>
            <p:spPr>
              <a:xfrm>
                <a:off x="0" y="0"/>
                <a:ext cx="4474624" cy="407401"/>
              </a:xfrm>
              <a:custGeom>
                <a:avLst/>
                <a:gdLst/>
                <a:ahLst/>
                <a:cxnLst/>
                <a:rect l="l" t="t" r="r" b="b"/>
                <a:pathLst>
                  <a:path w="4474624" h="407401">
                    <a:moveTo>
                      <a:pt x="11392" y="0"/>
                    </a:moveTo>
                    <a:lnTo>
                      <a:pt x="4463232" y="0"/>
                    </a:lnTo>
                    <a:cubicBezTo>
                      <a:pt x="4466253" y="0"/>
                      <a:pt x="4469151" y="1200"/>
                      <a:pt x="4471288" y="3337"/>
                    </a:cubicBezTo>
                    <a:cubicBezTo>
                      <a:pt x="4473424" y="5473"/>
                      <a:pt x="4474624" y="8371"/>
                      <a:pt x="4474624" y="11392"/>
                    </a:cubicBezTo>
                    <a:lnTo>
                      <a:pt x="4474624" y="396009"/>
                    </a:lnTo>
                    <a:cubicBezTo>
                      <a:pt x="4474624" y="399030"/>
                      <a:pt x="4473424" y="401928"/>
                      <a:pt x="4471288" y="404064"/>
                    </a:cubicBezTo>
                    <a:cubicBezTo>
                      <a:pt x="4469151" y="406201"/>
                      <a:pt x="4466253" y="407401"/>
                      <a:pt x="4463232" y="407401"/>
                    </a:cubicBezTo>
                    <a:lnTo>
                      <a:pt x="11392" y="407401"/>
                    </a:lnTo>
                    <a:cubicBezTo>
                      <a:pt x="8371" y="407401"/>
                      <a:pt x="5473" y="406201"/>
                      <a:pt x="3337" y="404064"/>
                    </a:cubicBezTo>
                    <a:cubicBezTo>
                      <a:pt x="1200" y="401928"/>
                      <a:pt x="0" y="399030"/>
                      <a:pt x="0" y="396009"/>
                    </a:cubicBezTo>
                    <a:lnTo>
                      <a:pt x="0" y="11392"/>
                    </a:lnTo>
                    <a:cubicBezTo>
                      <a:pt x="0" y="8371"/>
                      <a:pt x="1200" y="5473"/>
                      <a:pt x="3337" y="3337"/>
                    </a:cubicBezTo>
                    <a:cubicBezTo>
                      <a:pt x="5473" y="1200"/>
                      <a:pt x="8371" y="0"/>
                      <a:pt x="11392" y="0"/>
                    </a:cubicBezTo>
                    <a:close/>
                  </a:path>
                </a:pathLst>
              </a:custGeom>
              <a:solidFill>
                <a:srgbClr val="FFFFFF"/>
              </a:solidFill>
              <a:ln w="9525" cap="rnd">
                <a:solidFill>
                  <a:srgbClr val="000000"/>
                </a:solidFill>
                <a:prstDash val="solid"/>
                <a:round/>
              </a:ln>
            </p:spPr>
          </p:sp>
          <p:sp>
            <p:nvSpPr>
              <p:cNvPr id="65" name="TextBox 65"/>
              <p:cNvSpPr txBox="1"/>
              <p:nvPr/>
            </p:nvSpPr>
            <p:spPr>
              <a:xfrm>
                <a:off x="0" y="-57150"/>
                <a:ext cx="4474624" cy="464551"/>
              </a:xfrm>
              <a:prstGeom prst="rect">
                <a:avLst/>
              </a:prstGeom>
            </p:spPr>
            <p:txBody>
              <a:bodyPr lIns="50800" tIns="50800" rIns="50800" bIns="50800" rtlCol="0" anchor="ctr"/>
              <a:lstStyle/>
              <a:p>
                <a:pPr algn="l">
                  <a:lnSpc>
                    <a:spcPts val="2939"/>
                  </a:lnSpc>
                </a:pPr>
                <a:r>
                  <a:rPr lang="en-US" sz="2099" b="1">
                    <a:solidFill>
                      <a:srgbClr val="DB5A3F"/>
                    </a:solidFill>
                    <a:latin typeface="Raleway Bold"/>
                    <a:ea typeface="Raleway Bold"/>
                    <a:cs typeface="Raleway Bold"/>
                    <a:sym typeface="Raleway Bold"/>
                  </a:rPr>
                  <a:t>HWP LAYER </a:t>
                </a:r>
              </a:p>
            </p:txBody>
          </p:sp>
        </p:grpSp>
        <p:sp>
          <p:nvSpPr>
            <p:cNvPr id="66" name="TextBox 66"/>
            <p:cNvSpPr txBox="1"/>
            <p:nvPr/>
          </p:nvSpPr>
          <p:spPr>
            <a:xfrm>
              <a:off x="2046064" y="7295810"/>
              <a:ext cx="19936757" cy="879673"/>
            </a:xfrm>
            <a:prstGeom prst="rect">
              <a:avLst/>
            </a:prstGeom>
          </p:spPr>
          <p:txBody>
            <a:bodyPr lIns="0" tIns="0" rIns="0" bIns="0" rtlCol="0" anchor="t">
              <a:spAutoFit/>
            </a:bodyPr>
            <a:lstStyle/>
            <a:p>
              <a:pPr algn="ctr">
                <a:lnSpc>
                  <a:spcPts val="2662"/>
                </a:lnSpc>
                <a:spcBef>
                  <a:spcPct val="0"/>
                </a:spcBef>
              </a:pPr>
              <a:r>
                <a:rPr lang="en-US" sz="1901">
                  <a:solidFill>
                    <a:srgbClr val="1A5C2A"/>
                  </a:solidFill>
                  <a:latin typeface="Raleway"/>
                  <a:ea typeface="Raleway"/>
                  <a:cs typeface="Raleway"/>
                  <a:sym typeface="Raleway"/>
                </a:rPr>
                <a:t>HRRR wind speed, direction &amp; humidity overlaid on distance score; adjusts bin upward when wind is blowing toward user. Refresh cadence driven by fire activity patterns. </a:t>
              </a:r>
            </a:p>
          </p:txBody>
        </p:sp>
        <p:sp>
          <p:nvSpPr>
            <p:cNvPr id="68" name="AutoShape 68"/>
            <p:cNvSpPr/>
            <p:nvPr/>
          </p:nvSpPr>
          <p:spPr>
            <a:xfrm>
              <a:off x="2295980" y="7184646"/>
              <a:ext cx="0" cy="770777"/>
            </a:xfrm>
            <a:prstGeom prst="line">
              <a:avLst/>
            </a:prstGeom>
            <a:ln w="12451" cap="flat">
              <a:solidFill>
                <a:srgbClr val="C9DACF"/>
              </a:solidFill>
              <a:prstDash val="solid"/>
              <a:headEnd type="none" w="sm" len="sm"/>
              <a:tailEnd type="none" w="sm" len="sm"/>
            </a:ln>
          </p:spPr>
        </p:sp>
        <p:grpSp>
          <p:nvGrpSpPr>
            <p:cNvPr id="69" name="Group 69"/>
            <p:cNvGrpSpPr/>
            <p:nvPr/>
          </p:nvGrpSpPr>
          <p:grpSpPr>
            <a:xfrm>
              <a:off x="64469" y="8657236"/>
              <a:ext cx="22243524" cy="1235393"/>
              <a:chOff x="0" y="0"/>
              <a:chExt cx="4139700" cy="229917"/>
            </a:xfrm>
          </p:grpSpPr>
          <p:sp>
            <p:nvSpPr>
              <p:cNvPr id="70" name="Freeform 70"/>
              <p:cNvSpPr/>
              <p:nvPr/>
            </p:nvSpPr>
            <p:spPr>
              <a:xfrm>
                <a:off x="0" y="0"/>
                <a:ext cx="4139700" cy="229917"/>
              </a:xfrm>
              <a:custGeom>
                <a:avLst/>
                <a:gdLst/>
                <a:ahLst/>
                <a:cxnLst/>
                <a:rect l="l" t="t" r="r" b="b"/>
                <a:pathLst>
                  <a:path w="4139700" h="229917">
                    <a:moveTo>
                      <a:pt x="2133" y="0"/>
                    </a:moveTo>
                    <a:lnTo>
                      <a:pt x="4137567" y="0"/>
                    </a:lnTo>
                    <a:cubicBezTo>
                      <a:pt x="4138133" y="0"/>
                      <a:pt x="4138675" y="225"/>
                      <a:pt x="4139075" y="625"/>
                    </a:cubicBezTo>
                    <a:cubicBezTo>
                      <a:pt x="4139475" y="1025"/>
                      <a:pt x="4139700" y="1567"/>
                      <a:pt x="4139700" y="2133"/>
                    </a:cubicBezTo>
                    <a:lnTo>
                      <a:pt x="4139700" y="227784"/>
                    </a:lnTo>
                    <a:cubicBezTo>
                      <a:pt x="4139700" y="228962"/>
                      <a:pt x="4138745" y="229917"/>
                      <a:pt x="4137567" y="229917"/>
                    </a:cubicBezTo>
                    <a:lnTo>
                      <a:pt x="2133" y="229917"/>
                    </a:lnTo>
                    <a:cubicBezTo>
                      <a:pt x="955" y="229917"/>
                      <a:pt x="0" y="228962"/>
                      <a:pt x="0" y="227784"/>
                    </a:cubicBezTo>
                    <a:lnTo>
                      <a:pt x="0" y="2133"/>
                    </a:lnTo>
                    <a:cubicBezTo>
                      <a:pt x="0" y="955"/>
                      <a:pt x="955" y="0"/>
                      <a:pt x="2133" y="0"/>
                    </a:cubicBezTo>
                    <a:close/>
                  </a:path>
                </a:pathLst>
              </a:custGeom>
              <a:solidFill>
                <a:srgbClr val="FFBD59"/>
              </a:solidFill>
            </p:spPr>
          </p:sp>
          <p:sp>
            <p:nvSpPr>
              <p:cNvPr id="71" name="TextBox 71"/>
              <p:cNvSpPr txBox="1"/>
              <p:nvPr/>
            </p:nvSpPr>
            <p:spPr>
              <a:xfrm>
                <a:off x="0" y="-47625"/>
                <a:ext cx="4139700" cy="277542"/>
              </a:xfrm>
              <a:prstGeom prst="rect">
                <a:avLst/>
              </a:prstGeom>
            </p:spPr>
            <p:txBody>
              <a:bodyPr lIns="51817" tIns="51817" rIns="51817" bIns="51817" rtlCol="0" anchor="ctr"/>
              <a:lstStyle/>
              <a:p>
                <a:pPr algn="ctr">
                  <a:lnSpc>
                    <a:spcPts val="3499"/>
                  </a:lnSpc>
                </a:pPr>
                <a:r>
                  <a:rPr lang="en-US" sz="2499" b="1">
                    <a:solidFill>
                      <a:srgbClr val="FFFFFF"/>
                    </a:solidFill>
                    <a:latin typeface="Canva Sans Bold"/>
                    <a:ea typeface="Canva Sans Bold"/>
                    <a:cs typeface="Canva Sans Bold"/>
                    <a:sym typeface="Canva Sans Bold"/>
                  </a:rPr>
                  <a:t>Danger Assessment </a:t>
                </a:r>
              </a:p>
              <a:p>
                <a:pPr algn="l">
                  <a:lnSpc>
                    <a:spcPts val="2940"/>
                  </a:lnSpc>
                </a:pPr>
                <a:r>
                  <a:rPr lang="en-US" sz="2100">
                    <a:solidFill>
                      <a:srgbClr val="FFFFFF"/>
                    </a:solidFill>
                    <a:latin typeface="Canva Sans"/>
                    <a:ea typeface="Canva Sans"/>
                    <a:cs typeface="Canva Sans"/>
                    <a:sym typeface="Canva Sans"/>
                  </a:rPr>
                  <a:t>Our classification ML model dynamically calculates the hourly danger level based on the user location’s danger level history.</a:t>
                </a:r>
              </a:p>
            </p:txBody>
          </p:sp>
        </p:grpSp>
      </p:grpSp>
      <p:grpSp>
        <p:nvGrpSpPr>
          <p:cNvPr id="72" name="Group 72"/>
          <p:cNvGrpSpPr/>
          <p:nvPr/>
        </p:nvGrpSpPr>
        <p:grpSpPr>
          <a:xfrm>
            <a:off x="18895404" y="25428877"/>
            <a:ext cx="10204389" cy="6506438"/>
            <a:chOff x="0" y="0"/>
            <a:chExt cx="13605852" cy="8675251"/>
          </a:xfrm>
        </p:grpSpPr>
        <p:grpSp>
          <p:nvGrpSpPr>
            <p:cNvPr id="73" name="Group 73"/>
            <p:cNvGrpSpPr/>
            <p:nvPr/>
          </p:nvGrpSpPr>
          <p:grpSpPr>
            <a:xfrm>
              <a:off x="0" y="0"/>
              <a:ext cx="6487688" cy="1383030"/>
              <a:chOff x="0" y="0"/>
              <a:chExt cx="1281519" cy="273191"/>
            </a:xfrm>
          </p:grpSpPr>
          <p:sp>
            <p:nvSpPr>
              <p:cNvPr id="74" name="Freeform 74"/>
              <p:cNvSpPr/>
              <p:nvPr/>
            </p:nvSpPr>
            <p:spPr>
              <a:xfrm>
                <a:off x="0" y="0"/>
                <a:ext cx="1281519" cy="273191"/>
              </a:xfrm>
              <a:custGeom>
                <a:avLst/>
                <a:gdLst/>
                <a:ahLst/>
                <a:cxnLst/>
                <a:rect l="l" t="t" r="r" b="b"/>
                <a:pathLst>
                  <a:path w="1281519" h="273191">
                    <a:moveTo>
                      <a:pt x="39778" y="0"/>
                    </a:moveTo>
                    <a:lnTo>
                      <a:pt x="1241741" y="0"/>
                    </a:lnTo>
                    <a:cubicBezTo>
                      <a:pt x="1252291" y="0"/>
                      <a:pt x="1262408" y="4191"/>
                      <a:pt x="1269868" y="11651"/>
                    </a:cubicBezTo>
                    <a:cubicBezTo>
                      <a:pt x="1277328" y="19110"/>
                      <a:pt x="1281519" y="29228"/>
                      <a:pt x="1281519" y="39778"/>
                    </a:cubicBezTo>
                    <a:lnTo>
                      <a:pt x="1281519" y="233414"/>
                    </a:lnTo>
                    <a:cubicBezTo>
                      <a:pt x="1281519" y="243963"/>
                      <a:pt x="1277328" y="254081"/>
                      <a:pt x="1269868" y="261541"/>
                    </a:cubicBezTo>
                    <a:cubicBezTo>
                      <a:pt x="1262408" y="269000"/>
                      <a:pt x="1252291" y="273191"/>
                      <a:pt x="1241741" y="273191"/>
                    </a:cubicBezTo>
                    <a:lnTo>
                      <a:pt x="39778" y="273191"/>
                    </a:lnTo>
                    <a:cubicBezTo>
                      <a:pt x="29228" y="273191"/>
                      <a:pt x="19110" y="269000"/>
                      <a:pt x="11651" y="261541"/>
                    </a:cubicBezTo>
                    <a:cubicBezTo>
                      <a:pt x="4191" y="254081"/>
                      <a:pt x="0" y="243963"/>
                      <a:pt x="0" y="233414"/>
                    </a:cubicBezTo>
                    <a:lnTo>
                      <a:pt x="0" y="39778"/>
                    </a:lnTo>
                    <a:cubicBezTo>
                      <a:pt x="0" y="29228"/>
                      <a:pt x="4191" y="19110"/>
                      <a:pt x="11651" y="11651"/>
                    </a:cubicBezTo>
                    <a:cubicBezTo>
                      <a:pt x="19110" y="4191"/>
                      <a:pt x="29228" y="0"/>
                      <a:pt x="39778" y="0"/>
                    </a:cubicBezTo>
                    <a:close/>
                  </a:path>
                </a:pathLst>
              </a:custGeom>
              <a:solidFill>
                <a:srgbClr val="154734"/>
              </a:solidFill>
              <a:ln w="4762" cap="rnd">
                <a:solidFill>
                  <a:srgbClr val="000000"/>
                </a:solidFill>
                <a:prstDash val="solid"/>
                <a:round/>
              </a:ln>
            </p:spPr>
          </p:sp>
          <p:sp>
            <p:nvSpPr>
              <p:cNvPr id="75" name="TextBox 75"/>
              <p:cNvSpPr txBox="1"/>
              <p:nvPr/>
            </p:nvSpPr>
            <p:spPr>
              <a:xfrm>
                <a:off x="0" y="-57150"/>
                <a:ext cx="1281519" cy="330341"/>
              </a:xfrm>
              <a:prstGeom prst="rect">
                <a:avLst/>
              </a:prstGeom>
            </p:spPr>
            <p:txBody>
              <a:bodyPr lIns="50800" tIns="50800" rIns="50800" bIns="50800" rtlCol="0" anchor="ctr"/>
              <a:lstStyle/>
              <a:p>
                <a:pPr algn="ctr">
                  <a:lnSpc>
                    <a:spcPts val="2940"/>
                  </a:lnSpc>
                </a:pPr>
                <a:r>
                  <a:rPr lang="en-US" sz="2100" b="1">
                    <a:solidFill>
                      <a:srgbClr val="FFFFFF"/>
                    </a:solidFill>
                    <a:latin typeface="Raleway Semi-Bold"/>
                    <a:ea typeface="Raleway Semi-Bold"/>
                    <a:cs typeface="Raleway Semi-Bold"/>
                    <a:sym typeface="Raleway Semi-Bold"/>
                  </a:rPr>
                  <a:t>User Location</a:t>
                </a:r>
              </a:p>
              <a:p>
                <a:pPr algn="ctr">
                  <a:lnSpc>
                    <a:spcPts val="3312"/>
                  </a:lnSpc>
                </a:pPr>
                <a:r>
                  <a:rPr lang="en-US" sz="1800">
                    <a:solidFill>
                      <a:srgbClr val="FFFFFF"/>
                    </a:solidFill>
                    <a:latin typeface="Raleway"/>
                    <a:ea typeface="Raleway"/>
                    <a:cs typeface="Raleway"/>
                    <a:sym typeface="Raleway"/>
                  </a:rPr>
                  <a:t>GPS coordinates</a:t>
                </a:r>
              </a:p>
            </p:txBody>
          </p:sp>
        </p:grpSp>
        <p:grpSp>
          <p:nvGrpSpPr>
            <p:cNvPr id="76" name="Group 76"/>
            <p:cNvGrpSpPr/>
            <p:nvPr/>
          </p:nvGrpSpPr>
          <p:grpSpPr>
            <a:xfrm>
              <a:off x="7118164" y="0"/>
              <a:ext cx="6487688" cy="1383030"/>
              <a:chOff x="0" y="0"/>
              <a:chExt cx="1281519" cy="273191"/>
            </a:xfrm>
          </p:grpSpPr>
          <p:sp>
            <p:nvSpPr>
              <p:cNvPr id="77" name="Freeform 77"/>
              <p:cNvSpPr/>
              <p:nvPr/>
            </p:nvSpPr>
            <p:spPr>
              <a:xfrm>
                <a:off x="0" y="0"/>
                <a:ext cx="1281519" cy="273191"/>
              </a:xfrm>
              <a:custGeom>
                <a:avLst/>
                <a:gdLst/>
                <a:ahLst/>
                <a:cxnLst/>
                <a:rect l="l" t="t" r="r" b="b"/>
                <a:pathLst>
                  <a:path w="1281519" h="273191">
                    <a:moveTo>
                      <a:pt x="39778" y="0"/>
                    </a:moveTo>
                    <a:lnTo>
                      <a:pt x="1241741" y="0"/>
                    </a:lnTo>
                    <a:cubicBezTo>
                      <a:pt x="1252291" y="0"/>
                      <a:pt x="1262408" y="4191"/>
                      <a:pt x="1269868" y="11651"/>
                    </a:cubicBezTo>
                    <a:cubicBezTo>
                      <a:pt x="1277328" y="19110"/>
                      <a:pt x="1281519" y="29228"/>
                      <a:pt x="1281519" y="39778"/>
                    </a:cubicBezTo>
                    <a:lnTo>
                      <a:pt x="1281519" y="233414"/>
                    </a:lnTo>
                    <a:cubicBezTo>
                      <a:pt x="1281519" y="243963"/>
                      <a:pt x="1277328" y="254081"/>
                      <a:pt x="1269868" y="261541"/>
                    </a:cubicBezTo>
                    <a:cubicBezTo>
                      <a:pt x="1262408" y="269000"/>
                      <a:pt x="1252291" y="273191"/>
                      <a:pt x="1241741" y="273191"/>
                    </a:cubicBezTo>
                    <a:lnTo>
                      <a:pt x="39778" y="273191"/>
                    </a:lnTo>
                    <a:cubicBezTo>
                      <a:pt x="29228" y="273191"/>
                      <a:pt x="19110" y="269000"/>
                      <a:pt x="11651" y="261541"/>
                    </a:cubicBezTo>
                    <a:cubicBezTo>
                      <a:pt x="4191" y="254081"/>
                      <a:pt x="0" y="243963"/>
                      <a:pt x="0" y="233414"/>
                    </a:cubicBezTo>
                    <a:lnTo>
                      <a:pt x="0" y="39778"/>
                    </a:lnTo>
                    <a:cubicBezTo>
                      <a:pt x="0" y="29228"/>
                      <a:pt x="4191" y="19110"/>
                      <a:pt x="11651" y="11651"/>
                    </a:cubicBezTo>
                    <a:cubicBezTo>
                      <a:pt x="19110" y="4191"/>
                      <a:pt x="29228" y="0"/>
                      <a:pt x="39778" y="0"/>
                    </a:cubicBezTo>
                    <a:close/>
                  </a:path>
                </a:pathLst>
              </a:custGeom>
              <a:solidFill>
                <a:srgbClr val="154734"/>
              </a:solidFill>
              <a:ln w="4762" cap="rnd">
                <a:solidFill>
                  <a:srgbClr val="000000"/>
                </a:solidFill>
                <a:prstDash val="solid"/>
                <a:round/>
              </a:ln>
            </p:spPr>
          </p:sp>
          <p:sp>
            <p:nvSpPr>
              <p:cNvPr id="78" name="TextBox 78"/>
              <p:cNvSpPr txBox="1"/>
              <p:nvPr/>
            </p:nvSpPr>
            <p:spPr>
              <a:xfrm>
                <a:off x="0" y="-57150"/>
                <a:ext cx="1281519" cy="330341"/>
              </a:xfrm>
              <a:prstGeom prst="rect">
                <a:avLst/>
              </a:prstGeom>
            </p:spPr>
            <p:txBody>
              <a:bodyPr lIns="50800" tIns="50800" rIns="50800" bIns="50800" rtlCol="0" anchor="ctr"/>
              <a:lstStyle/>
              <a:p>
                <a:pPr algn="ctr">
                  <a:lnSpc>
                    <a:spcPts val="2940"/>
                  </a:lnSpc>
                </a:pPr>
                <a:r>
                  <a:rPr lang="en-US" sz="2100" b="1">
                    <a:solidFill>
                      <a:srgbClr val="FFFFFF"/>
                    </a:solidFill>
                    <a:latin typeface="Raleway Bold"/>
                    <a:ea typeface="Raleway Bold"/>
                    <a:cs typeface="Raleway Bold"/>
                    <a:sym typeface="Raleway Bold"/>
                  </a:rPr>
                  <a:t>Fire Polygons</a:t>
                </a:r>
              </a:p>
              <a:p>
                <a:pPr algn="ctr">
                  <a:lnSpc>
                    <a:spcPts val="2520"/>
                  </a:lnSpc>
                </a:pPr>
                <a:r>
                  <a:rPr lang="en-US" sz="1800">
                    <a:solidFill>
                      <a:srgbClr val="FFFFFF"/>
                    </a:solidFill>
                    <a:latin typeface="Raleway"/>
                    <a:ea typeface="Raleway"/>
                    <a:cs typeface="Raleway"/>
                    <a:sym typeface="Raleway"/>
                  </a:rPr>
                  <a:t>WatchDuty perimeters</a:t>
                </a:r>
              </a:p>
            </p:txBody>
          </p:sp>
        </p:grpSp>
        <p:grpSp>
          <p:nvGrpSpPr>
            <p:cNvPr id="79" name="Group 79"/>
            <p:cNvGrpSpPr/>
            <p:nvPr/>
          </p:nvGrpSpPr>
          <p:grpSpPr>
            <a:xfrm>
              <a:off x="7118164" y="4548666"/>
              <a:ext cx="6487688" cy="1383030"/>
              <a:chOff x="0" y="0"/>
              <a:chExt cx="1281519" cy="273191"/>
            </a:xfrm>
          </p:grpSpPr>
          <p:sp>
            <p:nvSpPr>
              <p:cNvPr id="80" name="Freeform 80"/>
              <p:cNvSpPr/>
              <p:nvPr/>
            </p:nvSpPr>
            <p:spPr>
              <a:xfrm>
                <a:off x="0" y="0"/>
                <a:ext cx="1281519" cy="273191"/>
              </a:xfrm>
              <a:custGeom>
                <a:avLst/>
                <a:gdLst/>
                <a:ahLst/>
                <a:cxnLst/>
                <a:rect l="l" t="t" r="r" b="b"/>
                <a:pathLst>
                  <a:path w="1281519" h="273191">
                    <a:moveTo>
                      <a:pt x="39778" y="0"/>
                    </a:moveTo>
                    <a:lnTo>
                      <a:pt x="1241741" y="0"/>
                    </a:lnTo>
                    <a:cubicBezTo>
                      <a:pt x="1252291" y="0"/>
                      <a:pt x="1262408" y="4191"/>
                      <a:pt x="1269868" y="11651"/>
                    </a:cubicBezTo>
                    <a:cubicBezTo>
                      <a:pt x="1277328" y="19110"/>
                      <a:pt x="1281519" y="29228"/>
                      <a:pt x="1281519" y="39778"/>
                    </a:cubicBezTo>
                    <a:lnTo>
                      <a:pt x="1281519" y="233414"/>
                    </a:lnTo>
                    <a:cubicBezTo>
                      <a:pt x="1281519" y="243963"/>
                      <a:pt x="1277328" y="254081"/>
                      <a:pt x="1269868" y="261541"/>
                    </a:cubicBezTo>
                    <a:cubicBezTo>
                      <a:pt x="1262408" y="269000"/>
                      <a:pt x="1252291" y="273191"/>
                      <a:pt x="1241741" y="273191"/>
                    </a:cubicBezTo>
                    <a:lnTo>
                      <a:pt x="39778" y="273191"/>
                    </a:lnTo>
                    <a:cubicBezTo>
                      <a:pt x="29228" y="273191"/>
                      <a:pt x="19110" y="269000"/>
                      <a:pt x="11651" y="261541"/>
                    </a:cubicBezTo>
                    <a:cubicBezTo>
                      <a:pt x="4191" y="254081"/>
                      <a:pt x="0" y="243963"/>
                      <a:pt x="0" y="233414"/>
                    </a:cubicBezTo>
                    <a:lnTo>
                      <a:pt x="0" y="39778"/>
                    </a:lnTo>
                    <a:cubicBezTo>
                      <a:pt x="0" y="29228"/>
                      <a:pt x="4191" y="19110"/>
                      <a:pt x="11651" y="11651"/>
                    </a:cubicBezTo>
                    <a:cubicBezTo>
                      <a:pt x="19110" y="4191"/>
                      <a:pt x="29228" y="0"/>
                      <a:pt x="39778" y="0"/>
                    </a:cubicBezTo>
                    <a:close/>
                  </a:path>
                </a:pathLst>
              </a:custGeom>
              <a:solidFill>
                <a:srgbClr val="154734"/>
              </a:solidFill>
              <a:ln w="4762" cap="rnd">
                <a:solidFill>
                  <a:srgbClr val="000000"/>
                </a:solidFill>
                <a:prstDash val="solid"/>
                <a:round/>
              </a:ln>
            </p:spPr>
          </p:sp>
          <p:sp>
            <p:nvSpPr>
              <p:cNvPr id="81" name="TextBox 81"/>
              <p:cNvSpPr txBox="1"/>
              <p:nvPr/>
            </p:nvSpPr>
            <p:spPr>
              <a:xfrm>
                <a:off x="0" y="-57150"/>
                <a:ext cx="1281519" cy="330341"/>
              </a:xfrm>
              <a:prstGeom prst="rect">
                <a:avLst/>
              </a:prstGeom>
            </p:spPr>
            <p:txBody>
              <a:bodyPr lIns="50800" tIns="50800" rIns="50800" bIns="50800" rtlCol="0" anchor="ctr"/>
              <a:lstStyle/>
              <a:p>
                <a:pPr algn="ctr">
                  <a:lnSpc>
                    <a:spcPts val="2940"/>
                  </a:lnSpc>
                </a:pPr>
                <a:r>
                  <a:rPr lang="en-US" sz="2100" b="1">
                    <a:solidFill>
                      <a:srgbClr val="FFFFFF"/>
                    </a:solidFill>
                    <a:latin typeface="Raleway Bold"/>
                    <a:ea typeface="Raleway Bold"/>
                    <a:cs typeface="Raleway Bold"/>
                    <a:sym typeface="Raleway Bold"/>
                  </a:rPr>
                  <a:t>Mapbox</a:t>
                </a:r>
              </a:p>
              <a:p>
                <a:pPr algn="ctr">
                  <a:lnSpc>
                    <a:spcPts val="2940"/>
                  </a:lnSpc>
                </a:pPr>
                <a:r>
                  <a:rPr lang="en-US" sz="2100">
                    <a:solidFill>
                      <a:srgbClr val="FFFFFF"/>
                    </a:solidFill>
                    <a:latin typeface="Raleway"/>
                    <a:ea typeface="Raleway"/>
                    <a:cs typeface="Raleway"/>
                    <a:sym typeface="Raleway"/>
                  </a:rPr>
                  <a:t>Turn-by-turn navigation</a:t>
                </a:r>
              </a:p>
            </p:txBody>
          </p:sp>
        </p:grpSp>
        <p:grpSp>
          <p:nvGrpSpPr>
            <p:cNvPr id="82" name="Group 82"/>
            <p:cNvGrpSpPr/>
            <p:nvPr/>
          </p:nvGrpSpPr>
          <p:grpSpPr>
            <a:xfrm>
              <a:off x="0" y="4548666"/>
              <a:ext cx="6487688" cy="1383030"/>
              <a:chOff x="0" y="0"/>
              <a:chExt cx="1281519" cy="273191"/>
            </a:xfrm>
          </p:grpSpPr>
          <p:sp>
            <p:nvSpPr>
              <p:cNvPr id="83" name="Freeform 83"/>
              <p:cNvSpPr/>
              <p:nvPr/>
            </p:nvSpPr>
            <p:spPr>
              <a:xfrm>
                <a:off x="0" y="0"/>
                <a:ext cx="1281519" cy="273191"/>
              </a:xfrm>
              <a:custGeom>
                <a:avLst/>
                <a:gdLst/>
                <a:ahLst/>
                <a:cxnLst/>
                <a:rect l="l" t="t" r="r" b="b"/>
                <a:pathLst>
                  <a:path w="1281519" h="273191">
                    <a:moveTo>
                      <a:pt x="39778" y="0"/>
                    </a:moveTo>
                    <a:lnTo>
                      <a:pt x="1241741" y="0"/>
                    </a:lnTo>
                    <a:cubicBezTo>
                      <a:pt x="1252291" y="0"/>
                      <a:pt x="1262408" y="4191"/>
                      <a:pt x="1269868" y="11651"/>
                    </a:cubicBezTo>
                    <a:cubicBezTo>
                      <a:pt x="1277328" y="19110"/>
                      <a:pt x="1281519" y="29228"/>
                      <a:pt x="1281519" y="39778"/>
                    </a:cubicBezTo>
                    <a:lnTo>
                      <a:pt x="1281519" y="233414"/>
                    </a:lnTo>
                    <a:cubicBezTo>
                      <a:pt x="1281519" y="243963"/>
                      <a:pt x="1277328" y="254081"/>
                      <a:pt x="1269868" y="261541"/>
                    </a:cubicBezTo>
                    <a:cubicBezTo>
                      <a:pt x="1262408" y="269000"/>
                      <a:pt x="1252291" y="273191"/>
                      <a:pt x="1241741" y="273191"/>
                    </a:cubicBezTo>
                    <a:lnTo>
                      <a:pt x="39778" y="273191"/>
                    </a:lnTo>
                    <a:cubicBezTo>
                      <a:pt x="29228" y="273191"/>
                      <a:pt x="19110" y="269000"/>
                      <a:pt x="11651" y="261541"/>
                    </a:cubicBezTo>
                    <a:cubicBezTo>
                      <a:pt x="4191" y="254081"/>
                      <a:pt x="0" y="243963"/>
                      <a:pt x="0" y="233414"/>
                    </a:cubicBezTo>
                    <a:lnTo>
                      <a:pt x="0" y="39778"/>
                    </a:lnTo>
                    <a:cubicBezTo>
                      <a:pt x="0" y="29228"/>
                      <a:pt x="4191" y="19110"/>
                      <a:pt x="11651" y="11651"/>
                    </a:cubicBezTo>
                    <a:cubicBezTo>
                      <a:pt x="19110" y="4191"/>
                      <a:pt x="29228" y="0"/>
                      <a:pt x="39778" y="0"/>
                    </a:cubicBezTo>
                    <a:close/>
                  </a:path>
                </a:pathLst>
              </a:custGeom>
              <a:solidFill>
                <a:srgbClr val="FFFFFF"/>
              </a:solidFill>
              <a:ln w="9525" cap="rnd">
                <a:solidFill>
                  <a:srgbClr val="000000"/>
                </a:solidFill>
                <a:prstDash val="solid"/>
                <a:round/>
              </a:ln>
            </p:spPr>
          </p:sp>
          <p:sp>
            <p:nvSpPr>
              <p:cNvPr id="84" name="TextBox 84"/>
              <p:cNvSpPr txBox="1"/>
              <p:nvPr/>
            </p:nvSpPr>
            <p:spPr>
              <a:xfrm>
                <a:off x="0" y="-57150"/>
                <a:ext cx="1281519" cy="330341"/>
              </a:xfrm>
              <a:prstGeom prst="rect">
                <a:avLst/>
              </a:prstGeom>
            </p:spPr>
            <p:txBody>
              <a:bodyPr lIns="50800" tIns="50800" rIns="50800" bIns="50800" rtlCol="0" anchor="ctr"/>
              <a:lstStyle/>
              <a:p>
                <a:pPr algn="ctr">
                  <a:lnSpc>
                    <a:spcPts val="2940"/>
                  </a:lnSpc>
                </a:pPr>
                <a:r>
                  <a:rPr lang="en-US" sz="2100" b="1">
                    <a:solidFill>
                      <a:srgbClr val="154734"/>
                    </a:solidFill>
                    <a:latin typeface="Raleway Bold"/>
                    <a:ea typeface="Raleway Bold"/>
                    <a:cs typeface="Raleway Bold"/>
                    <a:sym typeface="Raleway Bold"/>
                  </a:rPr>
                  <a:t>GeoJSON Route</a:t>
                </a:r>
              </a:p>
              <a:p>
                <a:pPr algn="ctr">
                  <a:lnSpc>
                    <a:spcPts val="2940"/>
                  </a:lnSpc>
                </a:pPr>
                <a:r>
                  <a:rPr lang="en-US" sz="2100">
                    <a:solidFill>
                      <a:srgbClr val="154734"/>
                    </a:solidFill>
                    <a:latin typeface="Raleway"/>
                    <a:ea typeface="Raleway"/>
                    <a:cs typeface="Raleway"/>
                    <a:sym typeface="Raleway"/>
                  </a:rPr>
                  <a:t>Avoids all active fire perimeters</a:t>
                </a:r>
              </a:p>
            </p:txBody>
          </p:sp>
        </p:grpSp>
        <p:sp>
          <p:nvSpPr>
            <p:cNvPr id="85" name="AutoShape 85"/>
            <p:cNvSpPr/>
            <p:nvPr/>
          </p:nvSpPr>
          <p:spPr>
            <a:xfrm>
              <a:off x="6772122" y="1600695"/>
              <a:ext cx="5405" cy="517078"/>
            </a:xfrm>
            <a:prstGeom prst="line">
              <a:avLst/>
            </a:prstGeom>
            <a:ln w="50800" cap="flat">
              <a:solidFill>
                <a:srgbClr val="000000"/>
              </a:solidFill>
              <a:prstDash val="solid"/>
              <a:headEnd type="none" w="sm" len="sm"/>
              <a:tailEnd type="arrow" w="med" len="sm"/>
            </a:ln>
          </p:spPr>
        </p:sp>
        <p:sp>
          <p:nvSpPr>
            <p:cNvPr id="86" name="AutoShape 86"/>
            <p:cNvSpPr/>
            <p:nvPr/>
          </p:nvSpPr>
          <p:spPr>
            <a:xfrm>
              <a:off x="3269242" y="3813409"/>
              <a:ext cx="5405" cy="517078"/>
            </a:xfrm>
            <a:prstGeom prst="line">
              <a:avLst/>
            </a:prstGeom>
            <a:ln w="50800" cap="flat">
              <a:solidFill>
                <a:srgbClr val="000000"/>
              </a:solidFill>
              <a:prstDash val="solid"/>
              <a:headEnd type="none" w="sm" len="sm"/>
              <a:tailEnd type="arrow" w="med" len="sm"/>
            </a:ln>
          </p:spPr>
        </p:sp>
        <p:sp>
          <p:nvSpPr>
            <p:cNvPr id="87" name="AutoShape 87"/>
            <p:cNvSpPr/>
            <p:nvPr/>
          </p:nvSpPr>
          <p:spPr>
            <a:xfrm>
              <a:off x="6594003" y="5265581"/>
              <a:ext cx="479453" cy="219"/>
            </a:xfrm>
            <a:prstGeom prst="line">
              <a:avLst/>
            </a:prstGeom>
            <a:ln w="50800" cap="flat">
              <a:solidFill>
                <a:srgbClr val="000000"/>
              </a:solidFill>
              <a:prstDash val="solid"/>
              <a:headEnd type="none" w="sm" len="sm"/>
              <a:tailEnd type="triangle" w="lg" len="med"/>
            </a:ln>
          </p:spPr>
        </p:sp>
        <p:sp>
          <p:nvSpPr>
            <p:cNvPr id="88" name="Freeform 88"/>
            <p:cNvSpPr/>
            <p:nvPr/>
          </p:nvSpPr>
          <p:spPr>
            <a:xfrm>
              <a:off x="6671839" y="595366"/>
              <a:ext cx="211377" cy="211377"/>
            </a:xfrm>
            <a:custGeom>
              <a:avLst/>
              <a:gdLst/>
              <a:ahLst/>
              <a:cxnLst/>
              <a:rect l="l" t="t" r="r" b="b"/>
              <a:pathLst>
                <a:path w="211377" h="211377">
                  <a:moveTo>
                    <a:pt x="0" y="0"/>
                  </a:moveTo>
                  <a:lnTo>
                    <a:pt x="211377" y="0"/>
                  </a:lnTo>
                  <a:lnTo>
                    <a:pt x="211377" y="211377"/>
                  </a:lnTo>
                  <a:lnTo>
                    <a:pt x="0" y="211377"/>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89" name="Group 89"/>
            <p:cNvGrpSpPr/>
            <p:nvPr/>
          </p:nvGrpSpPr>
          <p:grpSpPr>
            <a:xfrm>
              <a:off x="0" y="2274516"/>
              <a:ext cx="13605852" cy="1382664"/>
              <a:chOff x="0" y="0"/>
              <a:chExt cx="2687576" cy="273119"/>
            </a:xfrm>
          </p:grpSpPr>
          <p:sp>
            <p:nvSpPr>
              <p:cNvPr id="90" name="Freeform 90"/>
              <p:cNvSpPr/>
              <p:nvPr/>
            </p:nvSpPr>
            <p:spPr>
              <a:xfrm>
                <a:off x="0" y="0"/>
                <a:ext cx="2687576" cy="273119"/>
              </a:xfrm>
              <a:custGeom>
                <a:avLst/>
                <a:gdLst/>
                <a:ahLst/>
                <a:cxnLst/>
                <a:rect l="l" t="t" r="r" b="b"/>
                <a:pathLst>
                  <a:path w="2687576" h="273119">
                    <a:moveTo>
                      <a:pt x="18967" y="0"/>
                    </a:moveTo>
                    <a:lnTo>
                      <a:pt x="2668609" y="0"/>
                    </a:lnTo>
                    <a:cubicBezTo>
                      <a:pt x="2673639" y="0"/>
                      <a:pt x="2678463" y="1998"/>
                      <a:pt x="2682020" y="5555"/>
                    </a:cubicBezTo>
                    <a:cubicBezTo>
                      <a:pt x="2685577" y="9112"/>
                      <a:pt x="2687576" y="13937"/>
                      <a:pt x="2687576" y="18967"/>
                    </a:cubicBezTo>
                    <a:lnTo>
                      <a:pt x="2687576" y="254152"/>
                    </a:lnTo>
                    <a:cubicBezTo>
                      <a:pt x="2687576" y="259182"/>
                      <a:pt x="2685577" y="264006"/>
                      <a:pt x="2682020" y="267563"/>
                    </a:cubicBezTo>
                    <a:cubicBezTo>
                      <a:pt x="2678463" y="271120"/>
                      <a:pt x="2673639" y="273119"/>
                      <a:pt x="2668609" y="273119"/>
                    </a:cubicBezTo>
                    <a:lnTo>
                      <a:pt x="18967" y="273119"/>
                    </a:lnTo>
                    <a:cubicBezTo>
                      <a:pt x="13937" y="273119"/>
                      <a:pt x="9112" y="271120"/>
                      <a:pt x="5555" y="267563"/>
                    </a:cubicBezTo>
                    <a:cubicBezTo>
                      <a:pt x="1998" y="264006"/>
                      <a:pt x="0" y="259182"/>
                      <a:pt x="0" y="254152"/>
                    </a:cubicBezTo>
                    <a:lnTo>
                      <a:pt x="0" y="18967"/>
                    </a:lnTo>
                    <a:cubicBezTo>
                      <a:pt x="0" y="13937"/>
                      <a:pt x="1998" y="9112"/>
                      <a:pt x="5555" y="5555"/>
                    </a:cubicBezTo>
                    <a:cubicBezTo>
                      <a:pt x="9112" y="1998"/>
                      <a:pt x="13937" y="0"/>
                      <a:pt x="18967" y="0"/>
                    </a:cubicBezTo>
                    <a:close/>
                  </a:path>
                </a:pathLst>
              </a:custGeom>
              <a:solidFill>
                <a:srgbClr val="DB4A2B"/>
              </a:solidFill>
              <a:ln w="4762" cap="rnd">
                <a:solidFill>
                  <a:srgbClr val="000000"/>
                </a:solidFill>
                <a:prstDash val="solid"/>
                <a:round/>
              </a:ln>
            </p:spPr>
          </p:sp>
          <p:sp>
            <p:nvSpPr>
              <p:cNvPr id="91" name="TextBox 91"/>
              <p:cNvSpPr txBox="1"/>
              <p:nvPr/>
            </p:nvSpPr>
            <p:spPr>
              <a:xfrm>
                <a:off x="0" y="-57150"/>
                <a:ext cx="2687576" cy="330269"/>
              </a:xfrm>
              <a:prstGeom prst="rect">
                <a:avLst/>
              </a:prstGeom>
            </p:spPr>
            <p:txBody>
              <a:bodyPr lIns="50800" tIns="50800" rIns="50800" bIns="50800" rtlCol="0" anchor="ctr"/>
              <a:lstStyle/>
              <a:p>
                <a:pPr algn="ctr">
                  <a:lnSpc>
                    <a:spcPts val="2940"/>
                  </a:lnSpc>
                </a:pPr>
                <a:r>
                  <a:rPr lang="en-US" sz="2100" b="1">
                    <a:solidFill>
                      <a:srgbClr val="FFFFFF"/>
                    </a:solidFill>
                    <a:latin typeface="Raleway Bold"/>
                    <a:ea typeface="Raleway Bold"/>
                    <a:cs typeface="Raleway Bold"/>
                    <a:sym typeface="Raleway Bold"/>
                  </a:rPr>
                  <a:t>OpenRouteService (ORS)</a:t>
                </a:r>
              </a:p>
              <a:p>
                <a:pPr algn="ctr">
                  <a:lnSpc>
                    <a:spcPts val="2940"/>
                  </a:lnSpc>
                </a:pPr>
                <a:r>
                  <a:rPr lang="en-US" sz="2100">
                    <a:solidFill>
                      <a:srgbClr val="FFFFFF"/>
                    </a:solidFill>
                    <a:latin typeface="Raleway"/>
                    <a:ea typeface="Raleway"/>
                    <a:cs typeface="Raleway"/>
                    <a:sym typeface="Raleway"/>
                  </a:rPr>
                  <a:t>Polygon-avoidant routing engine</a:t>
                </a:r>
              </a:p>
            </p:txBody>
          </p:sp>
        </p:grpSp>
        <p:grpSp>
          <p:nvGrpSpPr>
            <p:cNvPr id="92" name="Group 92"/>
            <p:cNvGrpSpPr/>
            <p:nvPr/>
          </p:nvGrpSpPr>
          <p:grpSpPr>
            <a:xfrm>
              <a:off x="0" y="7404896"/>
              <a:ext cx="13605852" cy="1270355"/>
              <a:chOff x="0" y="0"/>
              <a:chExt cx="3244903" cy="302971"/>
            </a:xfrm>
          </p:grpSpPr>
          <p:sp>
            <p:nvSpPr>
              <p:cNvPr id="93" name="Freeform 93"/>
              <p:cNvSpPr/>
              <p:nvPr/>
            </p:nvSpPr>
            <p:spPr>
              <a:xfrm>
                <a:off x="0" y="0"/>
                <a:ext cx="3244903" cy="302971"/>
              </a:xfrm>
              <a:custGeom>
                <a:avLst/>
                <a:gdLst/>
                <a:ahLst/>
                <a:cxnLst/>
                <a:rect l="l" t="t" r="r" b="b"/>
                <a:pathLst>
                  <a:path w="3244903" h="302971">
                    <a:moveTo>
                      <a:pt x="3556" y="0"/>
                    </a:moveTo>
                    <a:lnTo>
                      <a:pt x="3241346" y="0"/>
                    </a:lnTo>
                    <a:cubicBezTo>
                      <a:pt x="3243311" y="0"/>
                      <a:pt x="3244903" y="1592"/>
                      <a:pt x="3244903" y="3556"/>
                    </a:cubicBezTo>
                    <a:lnTo>
                      <a:pt x="3244903" y="299415"/>
                    </a:lnTo>
                    <a:cubicBezTo>
                      <a:pt x="3244903" y="300358"/>
                      <a:pt x="3244528" y="301262"/>
                      <a:pt x="3243861" y="301929"/>
                    </a:cubicBezTo>
                    <a:cubicBezTo>
                      <a:pt x="3243194" y="302596"/>
                      <a:pt x="3242289" y="302971"/>
                      <a:pt x="3241346" y="302971"/>
                    </a:cubicBezTo>
                    <a:lnTo>
                      <a:pt x="3556" y="302971"/>
                    </a:lnTo>
                    <a:cubicBezTo>
                      <a:pt x="1592" y="302971"/>
                      <a:pt x="0" y="301379"/>
                      <a:pt x="0" y="299415"/>
                    </a:cubicBezTo>
                    <a:lnTo>
                      <a:pt x="0" y="3556"/>
                    </a:lnTo>
                    <a:cubicBezTo>
                      <a:pt x="0" y="1592"/>
                      <a:pt x="1592" y="0"/>
                      <a:pt x="3556" y="0"/>
                    </a:cubicBezTo>
                    <a:close/>
                  </a:path>
                </a:pathLst>
              </a:custGeom>
              <a:solidFill>
                <a:srgbClr val="FFBD59"/>
              </a:solidFill>
            </p:spPr>
          </p:sp>
          <p:sp>
            <p:nvSpPr>
              <p:cNvPr id="94" name="TextBox 94"/>
              <p:cNvSpPr txBox="1"/>
              <p:nvPr/>
            </p:nvSpPr>
            <p:spPr>
              <a:xfrm>
                <a:off x="0" y="-47625"/>
                <a:ext cx="3244903" cy="350596"/>
              </a:xfrm>
              <a:prstGeom prst="rect">
                <a:avLst/>
              </a:prstGeom>
            </p:spPr>
            <p:txBody>
              <a:bodyPr lIns="50800" tIns="50800" rIns="50800" bIns="50800" rtlCol="0" anchor="ctr"/>
              <a:lstStyle/>
              <a:p>
                <a:pPr algn="ctr">
                  <a:lnSpc>
                    <a:spcPts val="3499"/>
                  </a:lnSpc>
                </a:pPr>
                <a:r>
                  <a:rPr lang="en-US" sz="2499" b="1">
                    <a:solidFill>
                      <a:srgbClr val="FFFFFF"/>
                    </a:solidFill>
                    <a:latin typeface="Canva Sans Bold"/>
                    <a:ea typeface="Canva Sans Bold"/>
                    <a:cs typeface="Canva Sans Bold"/>
                    <a:sym typeface="Canva Sans Bold"/>
                  </a:rPr>
                  <a:t>Navigation Route Generation</a:t>
                </a:r>
              </a:p>
            </p:txBody>
          </p:sp>
        </p:grpSp>
      </p:grpSp>
      <p:grpSp>
        <p:nvGrpSpPr>
          <p:cNvPr id="95" name="Group 95"/>
          <p:cNvGrpSpPr/>
          <p:nvPr/>
        </p:nvGrpSpPr>
        <p:grpSpPr>
          <a:xfrm>
            <a:off x="31069784" y="25428877"/>
            <a:ext cx="11804345" cy="6437795"/>
            <a:chOff x="0" y="0"/>
            <a:chExt cx="15739126" cy="8583727"/>
          </a:xfrm>
        </p:grpSpPr>
        <p:grpSp>
          <p:nvGrpSpPr>
            <p:cNvPr id="96" name="Group 96"/>
            <p:cNvGrpSpPr/>
            <p:nvPr/>
          </p:nvGrpSpPr>
          <p:grpSpPr>
            <a:xfrm>
              <a:off x="0" y="0"/>
              <a:ext cx="3504706" cy="925257"/>
              <a:chOff x="0" y="0"/>
              <a:chExt cx="634686" cy="167560"/>
            </a:xfrm>
          </p:grpSpPr>
          <p:sp>
            <p:nvSpPr>
              <p:cNvPr id="97" name="Freeform 97"/>
              <p:cNvSpPr/>
              <p:nvPr/>
            </p:nvSpPr>
            <p:spPr>
              <a:xfrm>
                <a:off x="0" y="0"/>
                <a:ext cx="634686" cy="167560"/>
              </a:xfrm>
              <a:custGeom>
                <a:avLst/>
                <a:gdLst/>
                <a:ahLst/>
                <a:cxnLst/>
                <a:rect l="l" t="t" r="r" b="b"/>
                <a:pathLst>
                  <a:path w="634686" h="167560">
                    <a:moveTo>
                      <a:pt x="61040" y="0"/>
                    </a:moveTo>
                    <a:lnTo>
                      <a:pt x="573646" y="0"/>
                    </a:lnTo>
                    <a:cubicBezTo>
                      <a:pt x="607358" y="0"/>
                      <a:pt x="634686" y="27329"/>
                      <a:pt x="634686" y="61040"/>
                    </a:cubicBezTo>
                    <a:lnTo>
                      <a:pt x="634686" y="106520"/>
                    </a:lnTo>
                    <a:cubicBezTo>
                      <a:pt x="634686" y="122708"/>
                      <a:pt x="628255" y="138234"/>
                      <a:pt x="616808" y="149682"/>
                    </a:cubicBezTo>
                    <a:cubicBezTo>
                      <a:pt x="605361" y="161129"/>
                      <a:pt x="589835" y="167560"/>
                      <a:pt x="573646" y="167560"/>
                    </a:cubicBezTo>
                    <a:lnTo>
                      <a:pt x="61040" y="167560"/>
                    </a:lnTo>
                    <a:cubicBezTo>
                      <a:pt x="44851" y="167560"/>
                      <a:pt x="29326" y="161129"/>
                      <a:pt x="17878" y="149682"/>
                    </a:cubicBezTo>
                    <a:cubicBezTo>
                      <a:pt x="6431" y="138234"/>
                      <a:pt x="0" y="122708"/>
                      <a:pt x="0" y="106520"/>
                    </a:cubicBezTo>
                    <a:lnTo>
                      <a:pt x="0" y="61040"/>
                    </a:lnTo>
                    <a:cubicBezTo>
                      <a:pt x="0" y="44851"/>
                      <a:pt x="6431" y="29326"/>
                      <a:pt x="17878" y="17878"/>
                    </a:cubicBezTo>
                    <a:cubicBezTo>
                      <a:pt x="29326" y="6431"/>
                      <a:pt x="44851" y="0"/>
                      <a:pt x="61040" y="0"/>
                    </a:cubicBezTo>
                    <a:close/>
                  </a:path>
                </a:pathLst>
              </a:custGeom>
              <a:solidFill>
                <a:srgbClr val="154734"/>
              </a:solidFill>
              <a:ln w="4762" cap="sq">
                <a:solidFill>
                  <a:srgbClr val="000000"/>
                </a:solidFill>
                <a:prstDash val="solid"/>
                <a:miter/>
              </a:ln>
            </p:spPr>
          </p:sp>
          <p:sp>
            <p:nvSpPr>
              <p:cNvPr id="98" name="TextBox 98"/>
              <p:cNvSpPr txBox="1"/>
              <p:nvPr/>
            </p:nvSpPr>
            <p:spPr>
              <a:xfrm>
                <a:off x="0" y="-57150"/>
                <a:ext cx="634686" cy="224710"/>
              </a:xfrm>
              <a:prstGeom prst="rect">
                <a:avLst/>
              </a:prstGeom>
            </p:spPr>
            <p:txBody>
              <a:bodyPr lIns="50800" tIns="50800" rIns="50800" bIns="50800" rtlCol="0" anchor="ctr"/>
              <a:lstStyle/>
              <a:p>
                <a:pPr algn="ctr">
                  <a:lnSpc>
                    <a:spcPts val="2939"/>
                  </a:lnSpc>
                </a:pPr>
                <a:r>
                  <a:rPr lang="en-US" sz="2099" b="1">
                    <a:solidFill>
                      <a:srgbClr val="FFFFFF"/>
                    </a:solidFill>
                    <a:latin typeface="Raleway Semi-Bold"/>
                    <a:ea typeface="Raleway Semi-Bold"/>
                    <a:cs typeface="Raleway Semi-Bold"/>
                    <a:sym typeface="Raleway Semi-Bold"/>
                  </a:rPr>
                  <a:t>GPS Location</a:t>
                </a:r>
              </a:p>
            </p:txBody>
          </p:sp>
        </p:grpSp>
        <p:grpSp>
          <p:nvGrpSpPr>
            <p:cNvPr id="99" name="Group 99"/>
            <p:cNvGrpSpPr/>
            <p:nvPr/>
          </p:nvGrpSpPr>
          <p:grpSpPr>
            <a:xfrm>
              <a:off x="0" y="2803369"/>
              <a:ext cx="14765270" cy="1293685"/>
              <a:chOff x="0" y="0"/>
              <a:chExt cx="2673923" cy="234280"/>
            </a:xfrm>
          </p:grpSpPr>
          <p:sp>
            <p:nvSpPr>
              <p:cNvPr id="100" name="Freeform 100"/>
              <p:cNvSpPr/>
              <p:nvPr/>
            </p:nvSpPr>
            <p:spPr>
              <a:xfrm>
                <a:off x="0" y="0"/>
                <a:ext cx="2673923" cy="234280"/>
              </a:xfrm>
              <a:custGeom>
                <a:avLst/>
                <a:gdLst/>
                <a:ahLst/>
                <a:cxnLst/>
                <a:rect l="l" t="t" r="r" b="b"/>
                <a:pathLst>
                  <a:path w="2673923" h="234280">
                    <a:moveTo>
                      <a:pt x="14489" y="0"/>
                    </a:moveTo>
                    <a:lnTo>
                      <a:pt x="2659435" y="0"/>
                    </a:lnTo>
                    <a:cubicBezTo>
                      <a:pt x="2667437" y="0"/>
                      <a:pt x="2673923" y="6487"/>
                      <a:pt x="2673923" y="14489"/>
                    </a:cubicBezTo>
                    <a:lnTo>
                      <a:pt x="2673923" y="219792"/>
                    </a:lnTo>
                    <a:cubicBezTo>
                      <a:pt x="2673923" y="227794"/>
                      <a:pt x="2667437" y="234280"/>
                      <a:pt x="2659435" y="234280"/>
                    </a:cubicBezTo>
                    <a:lnTo>
                      <a:pt x="14489" y="234280"/>
                    </a:lnTo>
                    <a:cubicBezTo>
                      <a:pt x="6487" y="234280"/>
                      <a:pt x="0" y="227794"/>
                      <a:pt x="0" y="219792"/>
                    </a:cubicBezTo>
                    <a:lnTo>
                      <a:pt x="0" y="14489"/>
                    </a:lnTo>
                    <a:cubicBezTo>
                      <a:pt x="0" y="6487"/>
                      <a:pt x="6487" y="0"/>
                      <a:pt x="14489" y="0"/>
                    </a:cubicBezTo>
                    <a:close/>
                  </a:path>
                </a:pathLst>
              </a:custGeom>
              <a:solidFill>
                <a:srgbClr val="DB4A2B"/>
              </a:solidFill>
              <a:ln w="4762" cap="sq">
                <a:solidFill>
                  <a:srgbClr val="000000"/>
                </a:solidFill>
                <a:prstDash val="solid"/>
                <a:miter/>
              </a:ln>
            </p:spPr>
          </p:sp>
          <p:sp>
            <p:nvSpPr>
              <p:cNvPr id="101" name="TextBox 101"/>
              <p:cNvSpPr txBox="1"/>
              <p:nvPr/>
            </p:nvSpPr>
            <p:spPr>
              <a:xfrm>
                <a:off x="0" y="-66675"/>
                <a:ext cx="2673923" cy="300955"/>
              </a:xfrm>
              <a:prstGeom prst="rect">
                <a:avLst/>
              </a:prstGeom>
            </p:spPr>
            <p:txBody>
              <a:bodyPr lIns="50800" tIns="50800" rIns="50800" bIns="50800" rtlCol="0" anchor="ctr"/>
              <a:lstStyle/>
              <a:p>
                <a:pPr algn="ctr">
                  <a:lnSpc>
                    <a:spcPts val="3500"/>
                  </a:lnSpc>
                </a:pPr>
                <a:r>
                  <a:rPr lang="en-US" sz="2500" b="1">
                    <a:solidFill>
                      <a:srgbClr val="FFFFFF"/>
                    </a:solidFill>
                    <a:latin typeface="Raleway Bold"/>
                    <a:ea typeface="Raleway Bold"/>
                    <a:cs typeface="Raleway Bold"/>
                    <a:sym typeface="Raleway Bold"/>
                  </a:rPr>
                  <a:t>Claude</a:t>
                </a:r>
              </a:p>
              <a:p>
                <a:pPr algn="ctr">
                  <a:lnSpc>
                    <a:spcPts val="2520"/>
                  </a:lnSpc>
                </a:pPr>
                <a:r>
                  <a:rPr lang="en-US" sz="1800">
                    <a:solidFill>
                      <a:srgbClr val="FFFFFF"/>
                    </a:solidFill>
                    <a:latin typeface="Raleway"/>
                    <a:ea typeface="Raleway"/>
                    <a:cs typeface="Raleway"/>
                    <a:sym typeface="Raleway"/>
                  </a:rPr>
                  <a:t>Detecs language - Adjusts tone - Generates Checklist</a:t>
                </a:r>
              </a:p>
            </p:txBody>
          </p:sp>
        </p:grpSp>
        <p:grpSp>
          <p:nvGrpSpPr>
            <p:cNvPr id="102" name="Group 102"/>
            <p:cNvGrpSpPr/>
            <p:nvPr/>
          </p:nvGrpSpPr>
          <p:grpSpPr>
            <a:xfrm>
              <a:off x="0" y="4961482"/>
              <a:ext cx="4502093" cy="925353"/>
              <a:chOff x="0" y="0"/>
              <a:chExt cx="815309" cy="167577"/>
            </a:xfrm>
          </p:grpSpPr>
          <p:sp>
            <p:nvSpPr>
              <p:cNvPr id="103" name="Freeform 103"/>
              <p:cNvSpPr/>
              <p:nvPr/>
            </p:nvSpPr>
            <p:spPr>
              <a:xfrm>
                <a:off x="0" y="0"/>
                <a:ext cx="815309" cy="167577"/>
              </a:xfrm>
              <a:custGeom>
                <a:avLst/>
                <a:gdLst/>
                <a:ahLst/>
                <a:cxnLst/>
                <a:rect l="l" t="t" r="r" b="b"/>
                <a:pathLst>
                  <a:path w="815309" h="167577">
                    <a:moveTo>
                      <a:pt x="47518" y="0"/>
                    </a:moveTo>
                    <a:lnTo>
                      <a:pt x="767791" y="0"/>
                    </a:lnTo>
                    <a:cubicBezTo>
                      <a:pt x="794034" y="0"/>
                      <a:pt x="815309" y="21274"/>
                      <a:pt x="815309" y="47518"/>
                    </a:cubicBezTo>
                    <a:lnTo>
                      <a:pt x="815309" y="120060"/>
                    </a:lnTo>
                    <a:cubicBezTo>
                      <a:pt x="815309" y="132662"/>
                      <a:pt x="810302" y="144748"/>
                      <a:pt x="801391" y="153660"/>
                    </a:cubicBezTo>
                    <a:cubicBezTo>
                      <a:pt x="792480" y="162571"/>
                      <a:pt x="780394" y="167577"/>
                      <a:pt x="767791" y="167577"/>
                    </a:cubicBezTo>
                    <a:lnTo>
                      <a:pt x="47518" y="167577"/>
                    </a:lnTo>
                    <a:cubicBezTo>
                      <a:pt x="34915" y="167577"/>
                      <a:pt x="22829" y="162571"/>
                      <a:pt x="13918" y="153660"/>
                    </a:cubicBezTo>
                    <a:cubicBezTo>
                      <a:pt x="5006" y="144748"/>
                      <a:pt x="0" y="132662"/>
                      <a:pt x="0" y="120060"/>
                    </a:cubicBezTo>
                    <a:lnTo>
                      <a:pt x="0" y="47518"/>
                    </a:lnTo>
                    <a:cubicBezTo>
                      <a:pt x="0" y="34915"/>
                      <a:pt x="5006" y="22829"/>
                      <a:pt x="13918" y="13918"/>
                    </a:cubicBezTo>
                    <a:cubicBezTo>
                      <a:pt x="22829" y="5006"/>
                      <a:pt x="34915" y="0"/>
                      <a:pt x="47518" y="0"/>
                    </a:cubicBezTo>
                    <a:close/>
                  </a:path>
                </a:pathLst>
              </a:custGeom>
              <a:solidFill>
                <a:srgbClr val="FFFFFF"/>
              </a:solidFill>
              <a:ln w="9525" cap="sq">
                <a:solidFill>
                  <a:srgbClr val="000000"/>
                </a:solidFill>
                <a:prstDash val="solid"/>
                <a:miter/>
              </a:ln>
            </p:spPr>
          </p:sp>
          <p:sp>
            <p:nvSpPr>
              <p:cNvPr id="104" name="TextBox 104"/>
              <p:cNvSpPr txBox="1"/>
              <p:nvPr/>
            </p:nvSpPr>
            <p:spPr>
              <a:xfrm>
                <a:off x="0" y="-57150"/>
                <a:ext cx="815309" cy="224727"/>
              </a:xfrm>
              <a:prstGeom prst="rect">
                <a:avLst/>
              </a:prstGeom>
            </p:spPr>
            <p:txBody>
              <a:bodyPr lIns="50800" tIns="50800" rIns="50800" bIns="50800" rtlCol="0" anchor="ctr"/>
              <a:lstStyle/>
              <a:p>
                <a:pPr algn="ctr">
                  <a:lnSpc>
                    <a:spcPts val="2939"/>
                  </a:lnSpc>
                </a:pPr>
                <a:r>
                  <a:rPr lang="en-US" sz="2099" b="1">
                    <a:solidFill>
                      <a:srgbClr val="154734"/>
                    </a:solidFill>
                    <a:latin typeface="Raleway Bold"/>
                    <a:ea typeface="Raleway Bold"/>
                    <a:cs typeface="Raleway Bold"/>
                    <a:sym typeface="Raleway Bold"/>
                  </a:rPr>
                  <a:t>Localized Response</a:t>
                </a:r>
              </a:p>
            </p:txBody>
          </p:sp>
        </p:grpSp>
        <p:sp>
          <p:nvSpPr>
            <p:cNvPr id="105" name="AutoShape 105"/>
            <p:cNvSpPr/>
            <p:nvPr/>
          </p:nvSpPr>
          <p:spPr>
            <a:xfrm>
              <a:off x="7448032" y="4207210"/>
              <a:ext cx="5896" cy="564006"/>
            </a:xfrm>
            <a:prstGeom prst="line">
              <a:avLst/>
            </a:prstGeom>
            <a:ln w="55410" cap="flat">
              <a:solidFill>
                <a:srgbClr val="000000"/>
              </a:solidFill>
              <a:prstDash val="solid"/>
              <a:headEnd type="none" w="sm" len="sm"/>
              <a:tailEnd type="arrow" w="med" len="sm"/>
            </a:ln>
          </p:spPr>
        </p:sp>
        <p:grpSp>
          <p:nvGrpSpPr>
            <p:cNvPr id="106" name="Group 106"/>
            <p:cNvGrpSpPr/>
            <p:nvPr/>
          </p:nvGrpSpPr>
          <p:grpSpPr>
            <a:xfrm>
              <a:off x="3728857" y="0"/>
              <a:ext cx="3504706" cy="925257"/>
              <a:chOff x="0" y="0"/>
              <a:chExt cx="634686" cy="167560"/>
            </a:xfrm>
          </p:grpSpPr>
          <p:sp>
            <p:nvSpPr>
              <p:cNvPr id="107" name="Freeform 107"/>
              <p:cNvSpPr/>
              <p:nvPr/>
            </p:nvSpPr>
            <p:spPr>
              <a:xfrm>
                <a:off x="0" y="0"/>
                <a:ext cx="634686" cy="167560"/>
              </a:xfrm>
              <a:custGeom>
                <a:avLst/>
                <a:gdLst/>
                <a:ahLst/>
                <a:cxnLst/>
                <a:rect l="l" t="t" r="r" b="b"/>
                <a:pathLst>
                  <a:path w="634686" h="167560">
                    <a:moveTo>
                      <a:pt x="61040" y="0"/>
                    </a:moveTo>
                    <a:lnTo>
                      <a:pt x="573646" y="0"/>
                    </a:lnTo>
                    <a:cubicBezTo>
                      <a:pt x="607358" y="0"/>
                      <a:pt x="634686" y="27329"/>
                      <a:pt x="634686" y="61040"/>
                    </a:cubicBezTo>
                    <a:lnTo>
                      <a:pt x="634686" y="106520"/>
                    </a:lnTo>
                    <a:cubicBezTo>
                      <a:pt x="634686" y="122708"/>
                      <a:pt x="628255" y="138234"/>
                      <a:pt x="616808" y="149682"/>
                    </a:cubicBezTo>
                    <a:cubicBezTo>
                      <a:pt x="605361" y="161129"/>
                      <a:pt x="589835" y="167560"/>
                      <a:pt x="573646" y="167560"/>
                    </a:cubicBezTo>
                    <a:lnTo>
                      <a:pt x="61040" y="167560"/>
                    </a:lnTo>
                    <a:cubicBezTo>
                      <a:pt x="44851" y="167560"/>
                      <a:pt x="29326" y="161129"/>
                      <a:pt x="17878" y="149682"/>
                    </a:cubicBezTo>
                    <a:cubicBezTo>
                      <a:pt x="6431" y="138234"/>
                      <a:pt x="0" y="122708"/>
                      <a:pt x="0" y="106520"/>
                    </a:cubicBezTo>
                    <a:lnTo>
                      <a:pt x="0" y="61040"/>
                    </a:lnTo>
                    <a:cubicBezTo>
                      <a:pt x="0" y="44851"/>
                      <a:pt x="6431" y="29326"/>
                      <a:pt x="17878" y="17878"/>
                    </a:cubicBezTo>
                    <a:cubicBezTo>
                      <a:pt x="29326" y="6431"/>
                      <a:pt x="44851" y="0"/>
                      <a:pt x="61040" y="0"/>
                    </a:cubicBezTo>
                    <a:close/>
                  </a:path>
                </a:pathLst>
              </a:custGeom>
              <a:solidFill>
                <a:srgbClr val="154734"/>
              </a:solidFill>
              <a:ln w="4762" cap="sq">
                <a:solidFill>
                  <a:srgbClr val="000000"/>
                </a:solidFill>
                <a:prstDash val="solid"/>
                <a:miter/>
              </a:ln>
            </p:spPr>
          </p:sp>
          <p:sp>
            <p:nvSpPr>
              <p:cNvPr id="108" name="TextBox 108"/>
              <p:cNvSpPr txBox="1"/>
              <p:nvPr/>
            </p:nvSpPr>
            <p:spPr>
              <a:xfrm>
                <a:off x="0" y="-57150"/>
                <a:ext cx="634686" cy="224710"/>
              </a:xfrm>
              <a:prstGeom prst="rect">
                <a:avLst/>
              </a:prstGeom>
            </p:spPr>
            <p:txBody>
              <a:bodyPr lIns="50800" tIns="50800" rIns="50800" bIns="50800" rtlCol="0" anchor="ctr"/>
              <a:lstStyle/>
              <a:p>
                <a:pPr algn="ctr">
                  <a:lnSpc>
                    <a:spcPts val="2939"/>
                  </a:lnSpc>
                </a:pPr>
                <a:r>
                  <a:rPr lang="en-US" sz="2099" b="1">
                    <a:solidFill>
                      <a:srgbClr val="FFFFFF"/>
                    </a:solidFill>
                    <a:latin typeface="Raleway Semi-Bold"/>
                    <a:ea typeface="Raleway Semi-Bold"/>
                    <a:cs typeface="Raleway Semi-Bold"/>
                    <a:sym typeface="Raleway Semi-Bold"/>
                  </a:rPr>
                  <a:t>Danger Bin</a:t>
                </a:r>
              </a:p>
            </p:txBody>
          </p:sp>
        </p:grpSp>
        <p:grpSp>
          <p:nvGrpSpPr>
            <p:cNvPr id="109" name="Group 109"/>
            <p:cNvGrpSpPr/>
            <p:nvPr/>
          </p:nvGrpSpPr>
          <p:grpSpPr>
            <a:xfrm>
              <a:off x="7457714" y="0"/>
              <a:ext cx="3504706" cy="925257"/>
              <a:chOff x="0" y="0"/>
              <a:chExt cx="634686" cy="167560"/>
            </a:xfrm>
          </p:grpSpPr>
          <p:sp>
            <p:nvSpPr>
              <p:cNvPr id="110" name="Freeform 110"/>
              <p:cNvSpPr/>
              <p:nvPr/>
            </p:nvSpPr>
            <p:spPr>
              <a:xfrm>
                <a:off x="0" y="0"/>
                <a:ext cx="634686" cy="167560"/>
              </a:xfrm>
              <a:custGeom>
                <a:avLst/>
                <a:gdLst/>
                <a:ahLst/>
                <a:cxnLst/>
                <a:rect l="l" t="t" r="r" b="b"/>
                <a:pathLst>
                  <a:path w="634686" h="167560">
                    <a:moveTo>
                      <a:pt x="61040" y="0"/>
                    </a:moveTo>
                    <a:lnTo>
                      <a:pt x="573646" y="0"/>
                    </a:lnTo>
                    <a:cubicBezTo>
                      <a:pt x="607358" y="0"/>
                      <a:pt x="634686" y="27329"/>
                      <a:pt x="634686" y="61040"/>
                    </a:cubicBezTo>
                    <a:lnTo>
                      <a:pt x="634686" y="106520"/>
                    </a:lnTo>
                    <a:cubicBezTo>
                      <a:pt x="634686" y="122708"/>
                      <a:pt x="628255" y="138234"/>
                      <a:pt x="616808" y="149682"/>
                    </a:cubicBezTo>
                    <a:cubicBezTo>
                      <a:pt x="605361" y="161129"/>
                      <a:pt x="589835" y="167560"/>
                      <a:pt x="573646" y="167560"/>
                    </a:cubicBezTo>
                    <a:lnTo>
                      <a:pt x="61040" y="167560"/>
                    </a:lnTo>
                    <a:cubicBezTo>
                      <a:pt x="44851" y="167560"/>
                      <a:pt x="29326" y="161129"/>
                      <a:pt x="17878" y="149682"/>
                    </a:cubicBezTo>
                    <a:cubicBezTo>
                      <a:pt x="6431" y="138234"/>
                      <a:pt x="0" y="122708"/>
                      <a:pt x="0" y="106520"/>
                    </a:cubicBezTo>
                    <a:lnTo>
                      <a:pt x="0" y="61040"/>
                    </a:lnTo>
                    <a:cubicBezTo>
                      <a:pt x="0" y="44851"/>
                      <a:pt x="6431" y="29326"/>
                      <a:pt x="17878" y="17878"/>
                    </a:cubicBezTo>
                    <a:cubicBezTo>
                      <a:pt x="29326" y="6431"/>
                      <a:pt x="44851" y="0"/>
                      <a:pt x="61040" y="0"/>
                    </a:cubicBezTo>
                    <a:close/>
                  </a:path>
                </a:pathLst>
              </a:custGeom>
              <a:solidFill>
                <a:srgbClr val="154734"/>
              </a:solidFill>
              <a:ln w="4762" cap="sq">
                <a:solidFill>
                  <a:srgbClr val="000000"/>
                </a:solidFill>
                <a:prstDash val="solid"/>
                <a:miter/>
              </a:ln>
            </p:spPr>
          </p:sp>
          <p:sp>
            <p:nvSpPr>
              <p:cNvPr id="111" name="TextBox 111"/>
              <p:cNvSpPr txBox="1"/>
              <p:nvPr/>
            </p:nvSpPr>
            <p:spPr>
              <a:xfrm>
                <a:off x="0" y="-57150"/>
                <a:ext cx="634686" cy="224710"/>
              </a:xfrm>
              <a:prstGeom prst="rect">
                <a:avLst/>
              </a:prstGeom>
            </p:spPr>
            <p:txBody>
              <a:bodyPr lIns="50800" tIns="50800" rIns="50800" bIns="50800" rtlCol="0" anchor="ctr"/>
              <a:lstStyle/>
              <a:p>
                <a:pPr algn="ctr">
                  <a:lnSpc>
                    <a:spcPts val="2939"/>
                  </a:lnSpc>
                </a:pPr>
                <a:r>
                  <a:rPr lang="en-US" sz="2099" b="1">
                    <a:solidFill>
                      <a:srgbClr val="FFFFFF"/>
                    </a:solidFill>
                    <a:latin typeface="Raleway Semi-Bold"/>
                    <a:ea typeface="Raleway Semi-Bold"/>
                    <a:cs typeface="Raleway Semi-Bold"/>
                    <a:sym typeface="Raleway Semi-Bold"/>
                  </a:rPr>
                  <a:t>Safe Route</a:t>
                </a:r>
              </a:p>
            </p:txBody>
          </p:sp>
        </p:grpSp>
        <p:grpSp>
          <p:nvGrpSpPr>
            <p:cNvPr id="112" name="Group 112"/>
            <p:cNvGrpSpPr/>
            <p:nvPr/>
          </p:nvGrpSpPr>
          <p:grpSpPr>
            <a:xfrm>
              <a:off x="11184062" y="24011"/>
              <a:ext cx="3504706" cy="925257"/>
              <a:chOff x="0" y="0"/>
              <a:chExt cx="634686" cy="167560"/>
            </a:xfrm>
          </p:grpSpPr>
          <p:sp>
            <p:nvSpPr>
              <p:cNvPr id="113" name="Freeform 113"/>
              <p:cNvSpPr/>
              <p:nvPr/>
            </p:nvSpPr>
            <p:spPr>
              <a:xfrm>
                <a:off x="0" y="0"/>
                <a:ext cx="634686" cy="167560"/>
              </a:xfrm>
              <a:custGeom>
                <a:avLst/>
                <a:gdLst/>
                <a:ahLst/>
                <a:cxnLst/>
                <a:rect l="l" t="t" r="r" b="b"/>
                <a:pathLst>
                  <a:path w="634686" h="167560">
                    <a:moveTo>
                      <a:pt x="61040" y="0"/>
                    </a:moveTo>
                    <a:lnTo>
                      <a:pt x="573646" y="0"/>
                    </a:lnTo>
                    <a:cubicBezTo>
                      <a:pt x="607358" y="0"/>
                      <a:pt x="634686" y="27329"/>
                      <a:pt x="634686" y="61040"/>
                    </a:cubicBezTo>
                    <a:lnTo>
                      <a:pt x="634686" y="106520"/>
                    </a:lnTo>
                    <a:cubicBezTo>
                      <a:pt x="634686" y="122708"/>
                      <a:pt x="628255" y="138234"/>
                      <a:pt x="616808" y="149682"/>
                    </a:cubicBezTo>
                    <a:cubicBezTo>
                      <a:pt x="605361" y="161129"/>
                      <a:pt x="589835" y="167560"/>
                      <a:pt x="573646" y="167560"/>
                    </a:cubicBezTo>
                    <a:lnTo>
                      <a:pt x="61040" y="167560"/>
                    </a:lnTo>
                    <a:cubicBezTo>
                      <a:pt x="44851" y="167560"/>
                      <a:pt x="29326" y="161129"/>
                      <a:pt x="17878" y="149682"/>
                    </a:cubicBezTo>
                    <a:cubicBezTo>
                      <a:pt x="6431" y="138234"/>
                      <a:pt x="0" y="122708"/>
                      <a:pt x="0" y="106520"/>
                    </a:cubicBezTo>
                    <a:lnTo>
                      <a:pt x="0" y="61040"/>
                    </a:lnTo>
                    <a:cubicBezTo>
                      <a:pt x="0" y="44851"/>
                      <a:pt x="6431" y="29326"/>
                      <a:pt x="17878" y="17878"/>
                    </a:cubicBezTo>
                    <a:cubicBezTo>
                      <a:pt x="29326" y="6431"/>
                      <a:pt x="44851" y="0"/>
                      <a:pt x="61040" y="0"/>
                    </a:cubicBezTo>
                    <a:close/>
                  </a:path>
                </a:pathLst>
              </a:custGeom>
              <a:solidFill>
                <a:srgbClr val="154734"/>
              </a:solidFill>
              <a:ln w="4762" cap="sq">
                <a:solidFill>
                  <a:srgbClr val="000000"/>
                </a:solidFill>
                <a:prstDash val="solid"/>
                <a:miter/>
              </a:ln>
            </p:spPr>
          </p:sp>
          <p:sp>
            <p:nvSpPr>
              <p:cNvPr id="114" name="TextBox 114"/>
              <p:cNvSpPr txBox="1"/>
              <p:nvPr/>
            </p:nvSpPr>
            <p:spPr>
              <a:xfrm>
                <a:off x="0" y="-57150"/>
                <a:ext cx="634686" cy="224710"/>
              </a:xfrm>
              <a:prstGeom prst="rect">
                <a:avLst/>
              </a:prstGeom>
            </p:spPr>
            <p:txBody>
              <a:bodyPr lIns="50800" tIns="50800" rIns="50800" bIns="50800" rtlCol="0" anchor="ctr"/>
              <a:lstStyle/>
              <a:p>
                <a:pPr algn="ctr">
                  <a:lnSpc>
                    <a:spcPts val="2939"/>
                  </a:lnSpc>
                </a:pPr>
                <a:r>
                  <a:rPr lang="en-US" sz="2099" b="1">
                    <a:solidFill>
                      <a:srgbClr val="FFFFFF"/>
                    </a:solidFill>
                    <a:latin typeface="Raleway Semi-Bold"/>
                    <a:ea typeface="Raleway Semi-Bold"/>
                    <a:cs typeface="Raleway Semi-Bold"/>
                    <a:sym typeface="Raleway Semi-Bold"/>
                  </a:rPr>
                  <a:t>User Profile</a:t>
                </a:r>
              </a:p>
            </p:txBody>
          </p:sp>
        </p:grpSp>
        <p:sp>
          <p:nvSpPr>
            <p:cNvPr id="115" name="AutoShape 115"/>
            <p:cNvSpPr/>
            <p:nvPr/>
          </p:nvSpPr>
          <p:spPr>
            <a:xfrm>
              <a:off x="1752353" y="925257"/>
              <a:ext cx="5630282" cy="1878111"/>
            </a:xfrm>
            <a:prstGeom prst="line">
              <a:avLst/>
            </a:prstGeom>
            <a:ln w="55410" cap="flat">
              <a:solidFill>
                <a:srgbClr val="000000"/>
              </a:solidFill>
              <a:prstDash val="solid"/>
              <a:headEnd type="none" w="sm" len="sm"/>
              <a:tailEnd type="arrow" w="med" len="sm"/>
            </a:ln>
          </p:spPr>
        </p:sp>
        <p:sp>
          <p:nvSpPr>
            <p:cNvPr id="116" name="AutoShape 116"/>
            <p:cNvSpPr/>
            <p:nvPr/>
          </p:nvSpPr>
          <p:spPr>
            <a:xfrm>
              <a:off x="5481210" y="925257"/>
              <a:ext cx="1901424" cy="1878111"/>
            </a:xfrm>
            <a:prstGeom prst="line">
              <a:avLst/>
            </a:prstGeom>
            <a:ln w="55410" cap="flat">
              <a:solidFill>
                <a:srgbClr val="000000"/>
              </a:solidFill>
              <a:prstDash val="solid"/>
              <a:headEnd type="none" w="sm" len="sm"/>
              <a:tailEnd type="arrow" w="med" len="sm"/>
            </a:ln>
          </p:spPr>
        </p:sp>
        <p:sp>
          <p:nvSpPr>
            <p:cNvPr id="117" name="AutoShape 117"/>
            <p:cNvSpPr/>
            <p:nvPr/>
          </p:nvSpPr>
          <p:spPr>
            <a:xfrm flipH="1">
              <a:off x="7382635" y="925257"/>
              <a:ext cx="1827433" cy="1878111"/>
            </a:xfrm>
            <a:prstGeom prst="line">
              <a:avLst/>
            </a:prstGeom>
            <a:ln w="55410" cap="flat">
              <a:solidFill>
                <a:srgbClr val="000000"/>
              </a:solidFill>
              <a:prstDash val="solid"/>
              <a:headEnd type="none" w="sm" len="sm"/>
              <a:tailEnd type="arrow" w="med" len="sm"/>
            </a:ln>
          </p:spPr>
        </p:sp>
        <p:sp>
          <p:nvSpPr>
            <p:cNvPr id="118" name="AutoShape 118"/>
            <p:cNvSpPr/>
            <p:nvPr/>
          </p:nvSpPr>
          <p:spPr>
            <a:xfrm flipH="1">
              <a:off x="7382635" y="949269"/>
              <a:ext cx="5553781" cy="1854100"/>
            </a:xfrm>
            <a:prstGeom prst="line">
              <a:avLst/>
            </a:prstGeom>
            <a:ln w="55410" cap="flat">
              <a:solidFill>
                <a:srgbClr val="000000"/>
              </a:solidFill>
              <a:prstDash val="solid"/>
              <a:headEnd type="none" w="sm" len="sm"/>
              <a:tailEnd type="arrow" w="med" len="sm"/>
            </a:ln>
          </p:spPr>
        </p:sp>
        <p:sp>
          <p:nvSpPr>
            <p:cNvPr id="121" name="TextBox 121"/>
            <p:cNvSpPr txBox="1"/>
            <p:nvPr/>
          </p:nvSpPr>
          <p:spPr>
            <a:xfrm>
              <a:off x="8878985" y="1726709"/>
              <a:ext cx="6860141" cy="1110128"/>
            </a:xfrm>
            <a:prstGeom prst="rect">
              <a:avLst/>
            </a:prstGeom>
          </p:spPr>
          <p:txBody>
            <a:bodyPr lIns="50800" tIns="50800" rIns="50800" bIns="50800" rtlCol="0" anchor="ctr"/>
            <a:lstStyle/>
            <a:p>
              <a:pPr algn="ctr">
                <a:lnSpc>
                  <a:spcPts val="2939"/>
                </a:lnSpc>
              </a:pPr>
              <a:r>
                <a:rPr lang="en-US" sz="2099" dirty="0">
                  <a:solidFill>
                    <a:srgbClr val="154734"/>
                  </a:solidFill>
                  <a:latin typeface="Raleway"/>
                  <a:ea typeface="Raleway"/>
                  <a:cs typeface="Raleway"/>
                  <a:sym typeface="Raleway"/>
                </a:rPr>
                <a:t>Injected at session start via prompt</a:t>
              </a:r>
            </a:p>
          </p:txBody>
        </p:sp>
        <p:grpSp>
          <p:nvGrpSpPr>
            <p:cNvPr id="122" name="Group 122"/>
            <p:cNvGrpSpPr/>
            <p:nvPr/>
          </p:nvGrpSpPr>
          <p:grpSpPr>
            <a:xfrm>
              <a:off x="5131588" y="4961482"/>
              <a:ext cx="4502093" cy="925353"/>
              <a:chOff x="0" y="0"/>
              <a:chExt cx="815309" cy="167577"/>
            </a:xfrm>
          </p:grpSpPr>
          <p:sp>
            <p:nvSpPr>
              <p:cNvPr id="123" name="Freeform 123"/>
              <p:cNvSpPr/>
              <p:nvPr/>
            </p:nvSpPr>
            <p:spPr>
              <a:xfrm>
                <a:off x="0" y="0"/>
                <a:ext cx="815309" cy="167577"/>
              </a:xfrm>
              <a:custGeom>
                <a:avLst/>
                <a:gdLst/>
                <a:ahLst/>
                <a:cxnLst/>
                <a:rect l="l" t="t" r="r" b="b"/>
                <a:pathLst>
                  <a:path w="815309" h="167577">
                    <a:moveTo>
                      <a:pt x="47518" y="0"/>
                    </a:moveTo>
                    <a:lnTo>
                      <a:pt x="767791" y="0"/>
                    </a:lnTo>
                    <a:cubicBezTo>
                      <a:pt x="794034" y="0"/>
                      <a:pt x="815309" y="21274"/>
                      <a:pt x="815309" y="47518"/>
                    </a:cubicBezTo>
                    <a:lnTo>
                      <a:pt x="815309" y="120060"/>
                    </a:lnTo>
                    <a:cubicBezTo>
                      <a:pt x="815309" y="132662"/>
                      <a:pt x="810302" y="144748"/>
                      <a:pt x="801391" y="153660"/>
                    </a:cubicBezTo>
                    <a:cubicBezTo>
                      <a:pt x="792480" y="162571"/>
                      <a:pt x="780394" y="167577"/>
                      <a:pt x="767791" y="167577"/>
                    </a:cubicBezTo>
                    <a:lnTo>
                      <a:pt x="47518" y="167577"/>
                    </a:lnTo>
                    <a:cubicBezTo>
                      <a:pt x="34915" y="167577"/>
                      <a:pt x="22829" y="162571"/>
                      <a:pt x="13918" y="153660"/>
                    </a:cubicBezTo>
                    <a:cubicBezTo>
                      <a:pt x="5006" y="144748"/>
                      <a:pt x="0" y="132662"/>
                      <a:pt x="0" y="120060"/>
                    </a:cubicBezTo>
                    <a:lnTo>
                      <a:pt x="0" y="47518"/>
                    </a:lnTo>
                    <a:cubicBezTo>
                      <a:pt x="0" y="34915"/>
                      <a:pt x="5006" y="22829"/>
                      <a:pt x="13918" y="13918"/>
                    </a:cubicBezTo>
                    <a:cubicBezTo>
                      <a:pt x="22829" y="5006"/>
                      <a:pt x="34915" y="0"/>
                      <a:pt x="47518" y="0"/>
                    </a:cubicBezTo>
                    <a:close/>
                  </a:path>
                </a:pathLst>
              </a:custGeom>
              <a:solidFill>
                <a:srgbClr val="FFFFFF"/>
              </a:solidFill>
              <a:ln w="9525" cap="sq">
                <a:solidFill>
                  <a:srgbClr val="000000"/>
                </a:solidFill>
                <a:prstDash val="solid"/>
                <a:miter/>
              </a:ln>
            </p:spPr>
          </p:sp>
          <p:sp>
            <p:nvSpPr>
              <p:cNvPr id="124" name="TextBox 124"/>
              <p:cNvSpPr txBox="1"/>
              <p:nvPr/>
            </p:nvSpPr>
            <p:spPr>
              <a:xfrm>
                <a:off x="0" y="-57150"/>
                <a:ext cx="815309" cy="224727"/>
              </a:xfrm>
              <a:prstGeom prst="rect">
                <a:avLst/>
              </a:prstGeom>
            </p:spPr>
            <p:txBody>
              <a:bodyPr lIns="50800" tIns="50800" rIns="50800" bIns="50800" rtlCol="0" anchor="ctr"/>
              <a:lstStyle/>
              <a:p>
                <a:pPr algn="ctr">
                  <a:lnSpc>
                    <a:spcPts val="2939"/>
                  </a:lnSpc>
                </a:pPr>
                <a:r>
                  <a:rPr lang="en-US" sz="2099" b="1">
                    <a:solidFill>
                      <a:srgbClr val="154734"/>
                    </a:solidFill>
                    <a:latin typeface="Raleway Bold"/>
                    <a:ea typeface="Raleway Bold"/>
                    <a:cs typeface="Raleway Bold"/>
                    <a:sym typeface="Raleway Bold"/>
                  </a:rPr>
                  <a:t>Turn-by-Turn Steps</a:t>
                </a:r>
              </a:p>
            </p:txBody>
          </p:sp>
        </p:grpSp>
        <p:grpSp>
          <p:nvGrpSpPr>
            <p:cNvPr id="125" name="Group 125"/>
            <p:cNvGrpSpPr/>
            <p:nvPr/>
          </p:nvGrpSpPr>
          <p:grpSpPr>
            <a:xfrm>
              <a:off x="10263177" y="4961482"/>
              <a:ext cx="4502093" cy="925353"/>
              <a:chOff x="0" y="0"/>
              <a:chExt cx="815309" cy="167577"/>
            </a:xfrm>
          </p:grpSpPr>
          <p:sp>
            <p:nvSpPr>
              <p:cNvPr id="126" name="Freeform 126"/>
              <p:cNvSpPr/>
              <p:nvPr/>
            </p:nvSpPr>
            <p:spPr>
              <a:xfrm>
                <a:off x="0" y="0"/>
                <a:ext cx="815309" cy="167577"/>
              </a:xfrm>
              <a:custGeom>
                <a:avLst/>
                <a:gdLst/>
                <a:ahLst/>
                <a:cxnLst/>
                <a:rect l="l" t="t" r="r" b="b"/>
                <a:pathLst>
                  <a:path w="815309" h="167577">
                    <a:moveTo>
                      <a:pt x="47518" y="0"/>
                    </a:moveTo>
                    <a:lnTo>
                      <a:pt x="767791" y="0"/>
                    </a:lnTo>
                    <a:cubicBezTo>
                      <a:pt x="794034" y="0"/>
                      <a:pt x="815309" y="21274"/>
                      <a:pt x="815309" y="47518"/>
                    </a:cubicBezTo>
                    <a:lnTo>
                      <a:pt x="815309" y="120060"/>
                    </a:lnTo>
                    <a:cubicBezTo>
                      <a:pt x="815309" y="132662"/>
                      <a:pt x="810302" y="144748"/>
                      <a:pt x="801391" y="153660"/>
                    </a:cubicBezTo>
                    <a:cubicBezTo>
                      <a:pt x="792480" y="162571"/>
                      <a:pt x="780394" y="167577"/>
                      <a:pt x="767791" y="167577"/>
                    </a:cubicBezTo>
                    <a:lnTo>
                      <a:pt x="47518" y="167577"/>
                    </a:lnTo>
                    <a:cubicBezTo>
                      <a:pt x="34915" y="167577"/>
                      <a:pt x="22829" y="162571"/>
                      <a:pt x="13918" y="153660"/>
                    </a:cubicBezTo>
                    <a:cubicBezTo>
                      <a:pt x="5006" y="144748"/>
                      <a:pt x="0" y="132662"/>
                      <a:pt x="0" y="120060"/>
                    </a:cubicBezTo>
                    <a:lnTo>
                      <a:pt x="0" y="47518"/>
                    </a:lnTo>
                    <a:cubicBezTo>
                      <a:pt x="0" y="34915"/>
                      <a:pt x="5006" y="22829"/>
                      <a:pt x="13918" y="13918"/>
                    </a:cubicBezTo>
                    <a:cubicBezTo>
                      <a:pt x="22829" y="5006"/>
                      <a:pt x="34915" y="0"/>
                      <a:pt x="47518" y="0"/>
                    </a:cubicBezTo>
                    <a:close/>
                  </a:path>
                </a:pathLst>
              </a:custGeom>
              <a:solidFill>
                <a:srgbClr val="FFFFFF"/>
              </a:solidFill>
              <a:ln w="9525" cap="sq">
                <a:solidFill>
                  <a:srgbClr val="000000"/>
                </a:solidFill>
                <a:prstDash val="solid"/>
                <a:miter/>
              </a:ln>
            </p:spPr>
          </p:sp>
          <p:sp>
            <p:nvSpPr>
              <p:cNvPr id="127" name="TextBox 127"/>
              <p:cNvSpPr txBox="1"/>
              <p:nvPr/>
            </p:nvSpPr>
            <p:spPr>
              <a:xfrm>
                <a:off x="0" y="-57150"/>
                <a:ext cx="815309" cy="224727"/>
              </a:xfrm>
              <a:prstGeom prst="rect">
                <a:avLst/>
              </a:prstGeom>
            </p:spPr>
            <p:txBody>
              <a:bodyPr lIns="50800" tIns="50800" rIns="50800" bIns="50800" rtlCol="0" anchor="ctr"/>
              <a:lstStyle/>
              <a:p>
                <a:pPr algn="ctr">
                  <a:lnSpc>
                    <a:spcPts val="2939"/>
                  </a:lnSpc>
                </a:pPr>
                <a:r>
                  <a:rPr lang="en-US" sz="2099" b="1">
                    <a:solidFill>
                      <a:srgbClr val="154734"/>
                    </a:solidFill>
                    <a:latin typeface="Raleway Bold"/>
                    <a:ea typeface="Raleway Bold"/>
                    <a:cs typeface="Raleway Bold"/>
                    <a:sym typeface="Raleway Bold"/>
                  </a:rPr>
                  <a:t>Packing Checklist</a:t>
                </a:r>
              </a:p>
            </p:txBody>
          </p:sp>
        </p:grpSp>
        <p:grpSp>
          <p:nvGrpSpPr>
            <p:cNvPr id="128" name="Group 128"/>
            <p:cNvGrpSpPr/>
            <p:nvPr/>
          </p:nvGrpSpPr>
          <p:grpSpPr>
            <a:xfrm>
              <a:off x="109544" y="7285947"/>
              <a:ext cx="14688769" cy="1297780"/>
              <a:chOff x="0" y="0"/>
              <a:chExt cx="3211692" cy="283759"/>
            </a:xfrm>
          </p:grpSpPr>
          <p:sp>
            <p:nvSpPr>
              <p:cNvPr id="129" name="Freeform 129"/>
              <p:cNvSpPr/>
              <p:nvPr/>
            </p:nvSpPr>
            <p:spPr>
              <a:xfrm>
                <a:off x="0" y="0"/>
                <a:ext cx="3211692" cy="283759"/>
              </a:xfrm>
              <a:custGeom>
                <a:avLst/>
                <a:gdLst/>
                <a:ahLst/>
                <a:cxnLst/>
                <a:rect l="l" t="t" r="r" b="b"/>
                <a:pathLst>
                  <a:path w="3211692" h="283759">
                    <a:moveTo>
                      <a:pt x="3593" y="0"/>
                    </a:moveTo>
                    <a:lnTo>
                      <a:pt x="3208099" y="0"/>
                    </a:lnTo>
                    <a:cubicBezTo>
                      <a:pt x="3209052" y="0"/>
                      <a:pt x="3209966" y="379"/>
                      <a:pt x="3210640" y="1052"/>
                    </a:cubicBezTo>
                    <a:cubicBezTo>
                      <a:pt x="3211314" y="1726"/>
                      <a:pt x="3211692" y="2640"/>
                      <a:pt x="3211692" y="3593"/>
                    </a:cubicBezTo>
                    <a:lnTo>
                      <a:pt x="3211692" y="280166"/>
                    </a:lnTo>
                    <a:cubicBezTo>
                      <a:pt x="3211692" y="282150"/>
                      <a:pt x="3210084" y="283759"/>
                      <a:pt x="3208099" y="283759"/>
                    </a:cubicBezTo>
                    <a:lnTo>
                      <a:pt x="3593" y="283759"/>
                    </a:lnTo>
                    <a:cubicBezTo>
                      <a:pt x="2640" y="283759"/>
                      <a:pt x="1726" y="283380"/>
                      <a:pt x="1052" y="282707"/>
                    </a:cubicBezTo>
                    <a:cubicBezTo>
                      <a:pt x="379" y="282033"/>
                      <a:pt x="0" y="281119"/>
                      <a:pt x="0" y="280166"/>
                    </a:cubicBezTo>
                    <a:lnTo>
                      <a:pt x="0" y="3593"/>
                    </a:lnTo>
                    <a:cubicBezTo>
                      <a:pt x="0" y="2640"/>
                      <a:pt x="379" y="1726"/>
                      <a:pt x="1052" y="1052"/>
                    </a:cubicBezTo>
                    <a:cubicBezTo>
                      <a:pt x="1726" y="379"/>
                      <a:pt x="2640" y="0"/>
                      <a:pt x="3593" y="0"/>
                    </a:cubicBezTo>
                    <a:close/>
                  </a:path>
                </a:pathLst>
              </a:custGeom>
              <a:solidFill>
                <a:srgbClr val="FFBD59"/>
              </a:solidFill>
            </p:spPr>
          </p:sp>
          <p:sp>
            <p:nvSpPr>
              <p:cNvPr id="130" name="TextBox 130"/>
              <p:cNvSpPr txBox="1"/>
              <p:nvPr/>
            </p:nvSpPr>
            <p:spPr>
              <a:xfrm>
                <a:off x="0" y="-57150"/>
                <a:ext cx="3211692" cy="340909"/>
              </a:xfrm>
              <a:prstGeom prst="rect">
                <a:avLst/>
              </a:prstGeom>
            </p:spPr>
            <p:txBody>
              <a:bodyPr lIns="50800" tIns="50800" rIns="50800" bIns="50800" rtlCol="0" anchor="ctr"/>
              <a:lstStyle/>
              <a:p>
                <a:pPr algn="ctr">
                  <a:lnSpc>
                    <a:spcPts val="3500"/>
                  </a:lnSpc>
                </a:pPr>
                <a:r>
                  <a:rPr lang="en-US" sz="2500" b="1">
                    <a:solidFill>
                      <a:srgbClr val="FFFFFF"/>
                    </a:solidFill>
                    <a:latin typeface="Canva Sans Bold"/>
                    <a:ea typeface="Canva Sans Bold"/>
                    <a:cs typeface="Canva Sans Bold"/>
                    <a:sym typeface="Canva Sans Bold"/>
                  </a:rPr>
                  <a:t>AI Agent</a:t>
                </a:r>
              </a:p>
            </p:txBody>
          </p:sp>
        </p:grpSp>
      </p:grpSp>
      <p:grpSp>
        <p:nvGrpSpPr>
          <p:cNvPr id="131" name="Group 131"/>
          <p:cNvGrpSpPr/>
          <p:nvPr/>
        </p:nvGrpSpPr>
        <p:grpSpPr>
          <a:xfrm>
            <a:off x="15188842" y="11264375"/>
            <a:ext cx="13550573" cy="13526656"/>
            <a:chOff x="-19589" y="0"/>
            <a:chExt cx="1115274" cy="1113305"/>
          </a:xfrm>
        </p:grpSpPr>
        <p:sp>
          <p:nvSpPr>
            <p:cNvPr id="132" name="Freeform 132"/>
            <p:cNvSpPr/>
            <p:nvPr/>
          </p:nvSpPr>
          <p:spPr>
            <a:xfrm>
              <a:off x="0" y="0"/>
              <a:ext cx="1073046" cy="1111944"/>
            </a:xfrm>
            <a:custGeom>
              <a:avLst/>
              <a:gdLst/>
              <a:ahLst/>
              <a:cxnLst/>
              <a:rect l="l" t="t" r="r" b="b"/>
              <a:pathLst>
                <a:path w="1073046" h="1111944">
                  <a:moveTo>
                    <a:pt x="0" y="0"/>
                  </a:moveTo>
                  <a:lnTo>
                    <a:pt x="1073046" y="0"/>
                  </a:lnTo>
                  <a:lnTo>
                    <a:pt x="1073046" y="1111944"/>
                  </a:lnTo>
                  <a:lnTo>
                    <a:pt x="0" y="1111944"/>
                  </a:lnTo>
                  <a:close/>
                </a:path>
              </a:pathLst>
            </a:custGeom>
          </p:spPr>
        </p:sp>
        <p:sp>
          <p:nvSpPr>
            <p:cNvPr id="133" name="TextBox 133"/>
            <p:cNvSpPr txBox="1"/>
            <p:nvPr/>
          </p:nvSpPr>
          <p:spPr>
            <a:xfrm>
              <a:off x="-19589" y="1361"/>
              <a:ext cx="1115274" cy="1111944"/>
            </a:xfrm>
            <a:prstGeom prst="rect">
              <a:avLst/>
            </a:prstGeom>
          </p:spPr>
          <p:txBody>
            <a:bodyPr lIns="50800" tIns="50800" rIns="50800" bIns="50800" rtlCol="0" anchor="t"/>
            <a:lstStyle/>
            <a:p>
              <a:pPr algn="just">
                <a:lnSpc>
                  <a:spcPts val="7000"/>
                </a:lnSpc>
              </a:pPr>
              <a:r>
                <a:rPr lang="en-US" sz="5000" b="1" dirty="0">
                  <a:solidFill>
                    <a:srgbClr val="F55E25"/>
                  </a:solidFill>
                  <a:latin typeface="Canva Sans Bold"/>
                  <a:ea typeface="Canva Sans Bold"/>
                  <a:cs typeface="Canva Sans Bold"/>
                  <a:sym typeface="Canva Sans Bold"/>
                </a:rPr>
                <a:t>SYSTEM WORKFLOW</a:t>
              </a:r>
            </a:p>
            <a:p>
              <a:pPr algn="just">
                <a:lnSpc>
                  <a:spcPts val="5600"/>
                </a:lnSpc>
              </a:pPr>
              <a:r>
                <a:rPr lang="en-US" sz="4000" b="1" dirty="0">
                  <a:solidFill>
                    <a:srgbClr val="154734"/>
                  </a:solidFill>
                  <a:latin typeface="Canva Sans Bold"/>
                  <a:ea typeface="Canva Sans Bold"/>
                  <a:cs typeface="Canva Sans Bold"/>
                  <a:sym typeface="Canva Sans Bold"/>
                </a:rPr>
                <a:t>DATA</a:t>
              </a:r>
            </a:p>
            <a:p>
              <a:pPr algn="just">
                <a:lnSpc>
                  <a:spcPts val="3499"/>
                </a:lnSpc>
              </a:pPr>
              <a:r>
                <a:rPr lang="en-US" sz="2499" b="1" dirty="0" err="1">
                  <a:solidFill>
                    <a:srgbClr val="DB5A3F"/>
                  </a:solidFill>
                  <a:latin typeface="Canva Sans Bold"/>
                  <a:ea typeface="Canva Sans Bold"/>
                  <a:cs typeface="Canva Sans Bold"/>
                  <a:sym typeface="Canva Sans Bold"/>
                </a:rPr>
                <a:t>WatchDuty</a:t>
              </a:r>
              <a:r>
                <a:rPr lang="en-US" sz="2499" dirty="0">
                  <a:solidFill>
                    <a:srgbClr val="000000"/>
                  </a:solidFill>
                  <a:latin typeface="Canva Sans"/>
                  <a:ea typeface="Canva Sans"/>
                  <a:cs typeface="Canva Sans"/>
                  <a:sym typeface="Canva Sans"/>
                </a:rPr>
                <a:t> - active fire perimeter polygons, evacuation status,  evacuation facility </a:t>
              </a:r>
              <a:r>
                <a:rPr lang="en-US" sz="2499" b="1" dirty="0">
                  <a:solidFill>
                    <a:srgbClr val="F55E25"/>
                  </a:solidFill>
                  <a:latin typeface="Canva Sans Bold"/>
                  <a:ea typeface="Canva Sans Bold"/>
                  <a:cs typeface="Canva Sans Bold"/>
                  <a:sym typeface="Canva Sans Bold"/>
                </a:rPr>
                <a:t>NOAA High Resolution Rapid Refresh (HRRR)</a:t>
              </a:r>
              <a:r>
                <a:rPr lang="en-US" sz="2499" dirty="0">
                  <a:solidFill>
                    <a:srgbClr val="000000"/>
                  </a:solidFill>
                  <a:latin typeface="Canva Sans"/>
                  <a:ea typeface="Canva Sans"/>
                  <a:cs typeface="Canva Sans"/>
                  <a:sym typeface="Canva Sans"/>
                </a:rPr>
                <a:t> - hourly surface wind gust, 2-meter temperature, dewpoint, soil moisture, and snow water equivalent at ~3 km resolution across the CONUS grid</a:t>
              </a:r>
            </a:p>
            <a:p>
              <a:pPr algn="just">
                <a:lnSpc>
                  <a:spcPts val="3499"/>
                </a:lnSpc>
              </a:pPr>
              <a:r>
                <a:rPr lang="en-US" sz="2499" b="1" dirty="0" err="1">
                  <a:solidFill>
                    <a:srgbClr val="F55E25"/>
                  </a:solidFill>
                  <a:latin typeface="Canva Sans Bold"/>
                  <a:ea typeface="Canva Sans Bold"/>
                  <a:cs typeface="Canva Sans Bold"/>
                  <a:sym typeface="Canva Sans Bold"/>
                </a:rPr>
                <a:t>OverPass</a:t>
              </a:r>
              <a:r>
                <a:rPr lang="en-US" sz="2499" dirty="0">
                  <a:solidFill>
                    <a:srgbClr val="000000"/>
                  </a:solidFill>
                  <a:latin typeface="Canva Sans"/>
                  <a:ea typeface="Canva Sans"/>
                  <a:cs typeface="Canva Sans"/>
                  <a:sym typeface="Canva Sans"/>
                </a:rPr>
                <a:t> - pharmacies, groceries, shelters, fairgrounds, and hotels — are queried on-demand from the </a:t>
              </a:r>
              <a:r>
                <a:rPr lang="en-US" sz="2499" dirty="0" err="1">
                  <a:solidFill>
                    <a:srgbClr val="000000"/>
                  </a:solidFill>
                  <a:latin typeface="Canva Sans"/>
                  <a:ea typeface="Canva Sans"/>
                  <a:cs typeface="Canva Sans"/>
                  <a:sym typeface="Canva Sans"/>
                </a:rPr>
                <a:t>OverPass</a:t>
              </a:r>
              <a:r>
                <a:rPr lang="en-US" sz="2499" dirty="0">
                  <a:solidFill>
                    <a:srgbClr val="000000"/>
                  </a:solidFill>
                  <a:latin typeface="Canva Sans"/>
                  <a:ea typeface="Canva Sans"/>
                  <a:cs typeface="Canva Sans"/>
                  <a:sym typeface="Canva Sans"/>
                </a:rPr>
                <a:t> API, as they are commonly used as a shelter</a:t>
              </a:r>
            </a:p>
            <a:p>
              <a:pPr algn="just">
                <a:lnSpc>
                  <a:spcPts val="3499"/>
                </a:lnSpc>
              </a:pPr>
              <a:r>
                <a:rPr lang="en-US" sz="2499" b="1" dirty="0">
                  <a:solidFill>
                    <a:srgbClr val="F55E25"/>
                  </a:solidFill>
                  <a:latin typeface="Canva Sans Bold"/>
                  <a:ea typeface="Canva Sans Bold"/>
                  <a:cs typeface="Canva Sans Bold"/>
                  <a:sym typeface="Canva Sans Bold"/>
                </a:rPr>
                <a:t>User GPS coordinates</a:t>
              </a:r>
              <a:r>
                <a:rPr lang="en-US" sz="2499" dirty="0">
                  <a:solidFill>
                    <a:srgbClr val="000000"/>
                  </a:solidFill>
                  <a:latin typeface="Canva Sans"/>
                  <a:ea typeface="Canva Sans"/>
                  <a:cs typeface="Canva Sans"/>
                  <a:sym typeface="Canva Sans"/>
                </a:rPr>
                <a:t> - captured at session start and reverse-geocoded</a:t>
              </a:r>
            </a:p>
            <a:p>
              <a:pPr algn="just">
                <a:lnSpc>
                  <a:spcPts val="3499"/>
                </a:lnSpc>
              </a:pPr>
              <a:r>
                <a:rPr lang="en-US" sz="2499" b="1" dirty="0">
                  <a:solidFill>
                    <a:srgbClr val="F55E25"/>
                  </a:solidFill>
                  <a:latin typeface="Canva Sans Bold"/>
                  <a:ea typeface="Canva Sans Bold"/>
                  <a:cs typeface="Canva Sans Bold"/>
                  <a:sym typeface="Canva Sans Bold"/>
                </a:rPr>
                <a:t>User Information</a:t>
              </a:r>
              <a:r>
                <a:rPr lang="en-US" sz="2499" dirty="0">
                  <a:solidFill>
                    <a:srgbClr val="F55E25"/>
                  </a:solidFill>
                  <a:latin typeface="Canva Sans"/>
                  <a:ea typeface="Canva Sans"/>
                  <a:cs typeface="Canva Sans"/>
                  <a:sym typeface="Canva Sans"/>
                </a:rPr>
                <a:t> </a:t>
              </a:r>
              <a:r>
                <a:rPr lang="en-US" sz="2499" dirty="0">
                  <a:solidFill>
                    <a:srgbClr val="000000"/>
                  </a:solidFill>
                  <a:latin typeface="Canva Sans"/>
                  <a:ea typeface="Canva Sans"/>
                  <a:cs typeface="Canva Sans"/>
                  <a:sym typeface="Canva Sans"/>
                </a:rPr>
                <a:t>- household and language information during the onboarding</a:t>
              </a:r>
            </a:p>
            <a:p>
              <a:pPr algn="just">
                <a:lnSpc>
                  <a:spcPts val="3499"/>
                </a:lnSpc>
              </a:pPr>
              <a:r>
                <a:rPr lang="en-US" sz="2499" b="1" dirty="0">
                  <a:solidFill>
                    <a:srgbClr val="F55E25"/>
                  </a:solidFill>
                  <a:latin typeface="Canva Sans Bold"/>
                  <a:ea typeface="Canva Sans Bold"/>
                  <a:cs typeface="Canva Sans Bold"/>
                  <a:sym typeface="Canva Sans Bold"/>
                </a:rPr>
                <a:t>Chat Messages</a:t>
              </a:r>
              <a:r>
                <a:rPr lang="en-US" sz="2499" dirty="0">
                  <a:solidFill>
                    <a:srgbClr val="000000"/>
                  </a:solidFill>
                  <a:latin typeface="Canva Sans"/>
                  <a:ea typeface="Canva Sans"/>
                  <a:cs typeface="Canva Sans"/>
                  <a:sym typeface="Canva Sans"/>
                </a:rPr>
                <a:t> - system, user and agent messages are stored in </a:t>
              </a:r>
              <a:r>
                <a:rPr lang="en-US" sz="2499" dirty="0" err="1">
                  <a:solidFill>
                    <a:srgbClr val="000000"/>
                  </a:solidFill>
                  <a:latin typeface="Canva Sans"/>
                  <a:ea typeface="Canva Sans"/>
                  <a:cs typeface="Canva Sans"/>
                  <a:sym typeface="Canva Sans"/>
                </a:rPr>
                <a:t>Qdrant</a:t>
              </a:r>
              <a:r>
                <a:rPr lang="en-US" sz="2499" dirty="0">
                  <a:solidFill>
                    <a:srgbClr val="000000"/>
                  </a:solidFill>
                  <a:latin typeface="Canva Sans"/>
                  <a:ea typeface="Canva Sans"/>
                  <a:cs typeface="Canva Sans"/>
                  <a:sym typeface="Canva Sans"/>
                </a:rPr>
                <a:t> vector DB for semantic search and message chains</a:t>
              </a:r>
            </a:p>
            <a:p>
              <a:pPr algn="just">
                <a:lnSpc>
                  <a:spcPts val="5599"/>
                </a:lnSpc>
              </a:pPr>
              <a:r>
                <a:rPr lang="en-US" sz="3999" b="1" dirty="0">
                  <a:solidFill>
                    <a:srgbClr val="154734"/>
                  </a:solidFill>
                  <a:latin typeface="Canva Sans Bold"/>
                  <a:ea typeface="Canva Sans Bold"/>
                  <a:cs typeface="Canva Sans Bold"/>
                  <a:sym typeface="Canva Sans Bold"/>
                </a:rPr>
                <a:t>METHODS</a:t>
              </a:r>
            </a:p>
            <a:p>
              <a:pPr algn="just">
                <a:lnSpc>
                  <a:spcPts val="3499"/>
                </a:lnSpc>
                <a:spcBef>
                  <a:spcPct val="0"/>
                </a:spcBef>
              </a:pPr>
              <a:r>
                <a:rPr lang="en-US" sz="2499" dirty="0">
                  <a:solidFill>
                    <a:srgbClr val="000000"/>
                  </a:solidFill>
                  <a:latin typeface="Canva Sans"/>
                  <a:ea typeface="Canva Sans"/>
                  <a:cs typeface="Canva Sans"/>
                  <a:sym typeface="Canva Sans"/>
                </a:rPr>
                <a:t>At session start, the user's GPS coordinates are reverse-geocoded and the Haversine distance to the nearest active </a:t>
              </a:r>
              <a:r>
                <a:rPr lang="en-US" sz="2499" dirty="0" err="1">
                  <a:solidFill>
                    <a:srgbClr val="000000"/>
                  </a:solidFill>
                  <a:latin typeface="Canva Sans"/>
                  <a:ea typeface="Canva Sans"/>
                  <a:cs typeface="Canva Sans"/>
                  <a:sym typeface="Canva Sans"/>
                </a:rPr>
                <a:t>WatchDuty</a:t>
              </a:r>
              <a:r>
                <a:rPr lang="en-US" sz="2499" dirty="0">
                  <a:solidFill>
                    <a:srgbClr val="000000"/>
                  </a:solidFill>
                  <a:latin typeface="Canva Sans"/>
                  <a:ea typeface="Canva Sans"/>
                  <a:cs typeface="Canva Sans"/>
                  <a:sym typeface="Canva Sans"/>
                </a:rPr>
                <a:t> fire perimeter is computed. This danger score is wind-adjusted using a Hourly Wildfire Potential (HWP) index derived from HRRR fields and spatially smoothed over a ~27 km neighborhood. A scikit-learn classification model then assigns one of four danger bins (LOW, MEDIUM, HIGH, CRITICAL) based on distance, HWP score, and the user's location danger history. For routing, the user's GPS and </a:t>
              </a:r>
              <a:r>
                <a:rPr lang="en-US" sz="2499" dirty="0" err="1">
                  <a:solidFill>
                    <a:srgbClr val="000000"/>
                  </a:solidFill>
                  <a:latin typeface="Canva Sans"/>
                  <a:ea typeface="Canva Sans"/>
                  <a:cs typeface="Canva Sans"/>
                  <a:sym typeface="Canva Sans"/>
                </a:rPr>
                <a:t>WatchDuty</a:t>
              </a:r>
              <a:r>
                <a:rPr lang="en-US" sz="2499" dirty="0">
                  <a:solidFill>
                    <a:srgbClr val="000000"/>
                  </a:solidFill>
                  <a:latin typeface="Canva Sans"/>
                  <a:ea typeface="Canva Sans"/>
                  <a:cs typeface="Canva Sans"/>
                  <a:sym typeface="Canva Sans"/>
                </a:rPr>
                <a:t> fire polygons are passed to </a:t>
              </a:r>
              <a:r>
                <a:rPr lang="en-US" sz="2499" dirty="0" err="1">
                  <a:solidFill>
                    <a:srgbClr val="000000"/>
                  </a:solidFill>
                  <a:latin typeface="Canva Sans"/>
                  <a:ea typeface="Canva Sans"/>
                  <a:cs typeface="Canva Sans"/>
                  <a:sym typeface="Canva Sans"/>
                </a:rPr>
                <a:t>OpenRouteService</a:t>
              </a:r>
              <a:r>
                <a:rPr lang="en-US" sz="2499" dirty="0">
                  <a:solidFill>
                    <a:srgbClr val="000000"/>
                  </a:solidFill>
                  <a:latin typeface="Canva Sans"/>
                  <a:ea typeface="Canva Sans"/>
                  <a:cs typeface="Canva Sans"/>
                  <a:sym typeface="Canva Sans"/>
                </a:rPr>
                <a:t> (ORS), which generates a </a:t>
              </a:r>
              <a:r>
                <a:rPr lang="en-US" sz="2499" dirty="0" err="1">
                  <a:solidFill>
                    <a:srgbClr val="000000"/>
                  </a:solidFill>
                  <a:latin typeface="Canva Sans"/>
                  <a:ea typeface="Canva Sans"/>
                  <a:cs typeface="Canva Sans"/>
                  <a:sym typeface="Canva Sans"/>
                </a:rPr>
                <a:t>GeoJSON</a:t>
              </a:r>
              <a:r>
                <a:rPr lang="en-US" sz="2499" dirty="0">
                  <a:solidFill>
                    <a:srgbClr val="000000"/>
                  </a:solidFill>
                  <a:latin typeface="Canva Sans"/>
                  <a:ea typeface="Canva Sans"/>
                  <a:cs typeface="Canva Sans"/>
                  <a:sym typeface="Canva Sans"/>
                </a:rPr>
                <a:t> route avoiding all active fire perimeters; users may add waypoints such as pharmacies, or designate zones to avoid. The AI agent receives a structured prompt as a system message containing the user's location, danger bin, evacuation zone status, route, and household profile. It auto-detects language, adjusts tone to danger severity, and generates a personalized evacuation checklist. Conversation history is stored in </a:t>
              </a:r>
              <a:r>
                <a:rPr lang="en-US" sz="2499" dirty="0" err="1">
                  <a:solidFill>
                    <a:srgbClr val="000000"/>
                  </a:solidFill>
                  <a:latin typeface="Canva Sans"/>
                  <a:ea typeface="Canva Sans"/>
                  <a:cs typeface="Canva Sans"/>
                  <a:sym typeface="Canva Sans"/>
                </a:rPr>
                <a:t>Qdrant</a:t>
              </a:r>
              <a:r>
                <a:rPr lang="en-US" sz="2499" dirty="0">
                  <a:solidFill>
                    <a:srgbClr val="000000"/>
                  </a:solidFill>
                  <a:latin typeface="Canva Sans"/>
                  <a:ea typeface="Canva Sans"/>
                  <a:cs typeface="Canva Sans"/>
                  <a:sym typeface="Canva Sans"/>
                </a:rPr>
                <a:t> vector DB, enabling semantic search and coherent multi-turn message chains across sessions.</a:t>
              </a:r>
            </a:p>
          </p:txBody>
        </p:sp>
      </p:grpSp>
      <p:sp>
        <p:nvSpPr>
          <p:cNvPr id="134" name="Freeform 134"/>
          <p:cNvSpPr/>
          <p:nvPr/>
        </p:nvSpPr>
        <p:spPr>
          <a:xfrm>
            <a:off x="14982132" y="5180847"/>
            <a:ext cx="13320728" cy="6520357"/>
          </a:xfrm>
          <a:custGeom>
            <a:avLst/>
            <a:gdLst/>
            <a:ahLst/>
            <a:cxnLst/>
            <a:rect l="l" t="t" r="r" b="b"/>
            <a:pathLst>
              <a:path w="13320728" h="6520357">
                <a:moveTo>
                  <a:pt x="0" y="0"/>
                </a:moveTo>
                <a:lnTo>
                  <a:pt x="13320728" y="0"/>
                </a:lnTo>
                <a:lnTo>
                  <a:pt x="13320728" y="6520357"/>
                </a:lnTo>
                <a:lnTo>
                  <a:pt x="0" y="6520357"/>
                </a:lnTo>
                <a:lnTo>
                  <a:pt x="0" y="0"/>
                </a:lnTo>
                <a:close/>
              </a:path>
            </a:pathLst>
          </a:custGeom>
          <a:blipFill>
            <a:blip r:embed="rId5"/>
            <a:stretch>
              <a:fillRect l="-22967" t="-29994" r="-12197" b="-25331"/>
            </a:stretch>
          </a:blipFill>
        </p:spPr>
      </p:sp>
      <p:grpSp>
        <p:nvGrpSpPr>
          <p:cNvPr id="135" name="Group 135"/>
          <p:cNvGrpSpPr/>
          <p:nvPr/>
        </p:nvGrpSpPr>
        <p:grpSpPr>
          <a:xfrm>
            <a:off x="30055031" y="5856958"/>
            <a:ext cx="13082871" cy="7353635"/>
            <a:chOff x="-3734" y="-15830"/>
            <a:chExt cx="1076780" cy="605238"/>
          </a:xfrm>
        </p:grpSpPr>
        <p:sp>
          <p:nvSpPr>
            <p:cNvPr id="136" name="Freeform 136"/>
            <p:cNvSpPr/>
            <p:nvPr/>
          </p:nvSpPr>
          <p:spPr>
            <a:xfrm>
              <a:off x="0" y="0"/>
              <a:ext cx="1073046" cy="500463"/>
            </a:xfrm>
            <a:custGeom>
              <a:avLst/>
              <a:gdLst/>
              <a:ahLst/>
              <a:cxnLst/>
              <a:rect l="l" t="t" r="r" b="b"/>
              <a:pathLst>
                <a:path w="1073046" h="500463">
                  <a:moveTo>
                    <a:pt x="0" y="0"/>
                  </a:moveTo>
                  <a:lnTo>
                    <a:pt x="1073046" y="0"/>
                  </a:lnTo>
                  <a:lnTo>
                    <a:pt x="1073046" y="500463"/>
                  </a:lnTo>
                  <a:lnTo>
                    <a:pt x="0" y="500463"/>
                  </a:lnTo>
                  <a:close/>
                </a:path>
              </a:pathLst>
            </a:custGeom>
          </p:spPr>
        </p:sp>
        <p:sp>
          <p:nvSpPr>
            <p:cNvPr id="137" name="TextBox 137"/>
            <p:cNvSpPr txBox="1"/>
            <p:nvPr/>
          </p:nvSpPr>
          <p:spPr>
            <a:xfrm>
              <a:off x="-3734" y="-15830"/>
              <a:ext cx="1073046" cy="605238"/>
            </a:xfrm>
            <a:prstGeom prst="rect">
              <a:avLst/>
            </a:prstGeom>
          </p:spPr>
          <p:txBody>
            <a:bodyPr lIns="50800" tIns="50800" rIns="50800" bIns="50800" rtlCol="0" anchor="t"/>
            <a:lstStyle/>
            <a:p>
              <a:pPr algn="just">
                <a:lnSpc>
                  <a:spcPts val="7000"/>
                </a:lnSpc>
              </a:pPr>
              <a:r>
                <a:rPr lang="en-US" sz="5000" b="1" dirty="0">
                  <a:solidFill>
                    <a:srgbClr val="F55E25"/>
                  </a:solidFill>
                  <a:latin typeface="Canva Sans Bold"/>
                  <a:ea typeface="Canva Sans Bold"/>
                  <a:cs typeface="Canva Sans Bold"/>
                  <a:sym typeface="Canva Sans Bold"/>
                </a:rPr>
                <a:t>RESULT</a:t>
              </a:r>
            </a:p>
            <a:p>
              <a:pPr algn="just">
                <a:lnSpc>
                  <a:spcPts val="3499"/>
                </a:lnSpc>
                <a:spcBef>
                  <a:spcPct val="0"/>
                </a:spcBef>
              </a:pPr>
              <a:r>
                <a:rPr lang="en-US" sz="2499" dirty="0">
                  <a:solidFill>
                    <a:srgbClr val="000000"/>
                  </a:solidFill>
                  <a:latin typeface="Canva Sans"/>
                  <a:ea typeface="Canva Sans"/>
                  <a:cs typeface="Canva Sans"/>
                  <a:sym typeface="Canva Sans"/>
                </a:rPr>
                <a:t>BEACON was successfully deployed end-to-end as a production-ready system. The Python </a:t>
              </a:r>
              <a:r>
                <a:rPr lang="en-US" sz="2499" dirty="0" err="1">
                  <a:solidFill>
                    <a:srgbClr val="000000"/>
                  </a:solidFill>
                  <a:latin typeface="Canva Sans"/>
                  <a:ea typeface="Canva Sans"/>
                  <a:cs typeface="Canva Sans"/>
                  <a:sym typeface="Canva Sans"/>
                </a:rPr>
                <a:t>FastAPI</a:t>
              </a:r>
              <a:r>
                <a:rPr lang="en-US" sz="2499" dirty="0">
                  <a:solidFill>
                    <a:srgbClr val="000000"/>
                  </a:solidFill>
                  <a:latin typeface="Canva Sans"/>
                  <a:ea typeface="Canva Sans"/>
                  <a:cs typeface="Canva Sans"/>
                  <a:sym typeface="Canva Sans"/>
                </a:rPr>
                <a:t> backend is containerized with Docker and deployed on Google Cloud Run, enabling fully managed, auto-scaling serverless execution without infrastructure overhead. The native Swift iOS application was submitted to and approved on Apple TestFlight, making BEACON available for live beta testing on iPhone. Testers can access the full application — including the AI chatbot agent, PS evacuation routing, multilingual interface, and personalized checklist — directly from their devices. The system demonstrated reliable end-to-end performance across all core features: automatic language detection, polygon-avoidant route generation via ORS, HWP-driven danger bin classification, and household-personalized checklist generation. </a:t>
              </a:r>
            </a:p>
          </p:txBody>
        </p:sp>
      </p:grpSp>
      <p:grpSp>
        <p:nvGrpSpPr>
          <p:cNvPr id="138" name="Group 138"/>
          <p:cNvGrpSpPr/>
          <p:nvPr/>
        </p:nvGrpSpPr>
        <p:grpSpPr>
          <a:xfrm>
            <a:off x="33584141" y="12129912"/>
            <a:ext cx="9553761" cy="3944177"/>
            <a:chOff x="0" y="0"/>
            <a:chExt cx="12738349" cy="5258903"/>
          </a:xfrm>
        </p:grpSpPr>
        <p:sp>
          <p:nvSpPr>
            <p:cNvPr id="139" name="Freeform 139"/>
            <p:cNvSpPr/>
            <p:nvPr/>
          </p:nvSpPr>
          <p:spPr>
            <a:xfrm>
              <a:off x="7781614" y="30641"/>
              <a:ext cx="2349934" cy="5094708"/>
            </a:xfrm>
            <a:custGeom>
              <a:avLst/>
              <a:gdLst/>
              <a:ahLst/>
              <a:cxnLst/>
              <a:rect l="l" t="t" r="r" b="b"/>
              <a:pathLst>
                <a:path w="2349934" h="5094708">
                  <a:moveTo>
                    <a:pt x="0" y="0"/>
                  </a:moveTo>
                  <a:lnTo>
                    <a:pt x="2349934" y="0"/>
                  </a:lnTo>
                  <a:lnTo>
                    <a:pt x="2349934" y="5094709"/>
                  </a:lnTo>
                  <a:lnTo>
                    <a:pt x="0" y="5094709"/>
                  </a:lnTo>
                  <a:lnTo>
                    <a:pt x="0" y="0"/>
                  </a:lnTo>
                  <a:close/>
                </a:path>
              </a:pathLst>
            </a:custGeom>
            <a:blipFill>
              <a:blip r:embed="rId6"/>
              <a:stretch>
                <a:fillRect/>
              </a:stretch>
            </a:blipFill>
          </p:spPr>
        </p:sp>
        <p:sp>
          <p:nvSpPr>
            <p:cNvPr id="140" name="Freeform 140"/>
            <p:cNvSpPr/>
            <p:nvPr/>
          </p:nvSpPr>
          <p:spPr>
            <a:xfrm>
              <a:off x="2583854" y="137258"/>
              <a:ext cx="2362359" cy="5121645"/>
            </a:xfrm>
            <a:custGeom>
              <a:avLst/>
              <a:gdLst/>
              <a:ahLst/>
              <a:cxnLst/>
              <a:rect l="l" t="t" r="r" b="b"/>
              <a:pathLst>
                <a:path w="2362359" h="5121645">
                  <a:moveTo>
                    <a:pt x="0" y="0"/>
                  </a:moveTo>
                  <a:lnTo>
                    <a:pt x="2362359" y="0"/>
                  </a:lnTo>
                  <a:lnTo>
                    <a:pt x="2362359" y="5121645"/>
                  </a:lnTo>
                  <a:lnTo>
                    <a:pt x="0" y="5121645"/>
                  </a:lnTo>
                  <a:lnTo>
                    <a:pt x="0" y="0"/>
                  </a:lnTo>
                  <a:close/>
                </a:path>
              </a:pathLst>
            </a:custGeom>
            <a:blipFill>
              <a:blip r:embed="rId7"/>
              <a:stretch>
                <a:fillRect/>
              </a:stretch>
            </a:blipFill>
          </p:spPr>
        </p:sp>
        <p:sp>
          <p:nvSpPr>
            <p:cNvPr id="141" name="Freeform 141"/>
            <p:cNvSpPr/>
            <p:nvPr/>
          </p:nvSpPr>
          <p:spPr>
            <a:xfrm>
              <a:off x="10360148" y="0"/>
              <a:ext cx="2378201" cy="5155991"/>
            </a:xfrm>
            <a:custGeom>
              <a:avLst/>
              <a:gdLst/>
              <a:ahLst/>
              <a:cxnLst/>
              <a:rect l="l" t="t" r="r" b="b"/>
              <a:pathLst>
                <a:path w="2378201" h="5155991">
                  <a:moveTo>
                    <a:pt x="0" y="0"/>
                  </a:moveTo>
                  <a:lnTo>
                    <a:pt x="2378201" y="0"/>
                  </a:lnTo>
                  <a:lnTo>
                    <a:pt x="2378201" y="5155991"/>
                  </a:lnTo>
                  <a:lnTo>
                    <a:pt x="0" y="5155991"/>
                  </a:lnTo>
                  <a:lnTo>
                    <a:pt x="0" y="0"/>
                  </a:lnTo>
                  <a:close/>
                </a:path>
              </a:pathLst>
            </a:custGeom>
            <a:blipFill>
              <a:blip r:embed="rId8"/>
              <a:stretch>
                <a:fillRect/>
              </a:stretch>
            </a:blipFill>
          </p:spPr>
        </p:sp>
        <p:sp>
          <p:nvSpPr>
            <p:cNvPr id="142" name="Freeform 142"/>
            <p:cNvSpPr/>
            <p:nvPr/>
          </p:nvSpPr>
          <p:spPr>
            <a:xfrm>
              <a:off x="5174813" y="72271"/>
              <a:ext cx="2378201" cy="5155991"/>
            </a:xfrm>
            <a:custGeom>
              <a:avLst/>
              <a:gdLst/>
              <a:ahLst/>
              <a:cxnLst/>
              <a:rect l="l" t="t" r="r" b="b"/>
              <a:pathLst>
                <a:path w="2378201" h="5155991">
                  <a:moveTo>
                    <a:pt x="0" y="0"/>
                  </a:moveTo>
                  <a:lnTo>
                    <a:pt x="2378201" y="0"/>
                  </a:lnTo>
                  <a:lnTo>
                    <a:pt x="2378201" y="5155991"/>
                  </a:lnTo>
                  <a:lnTo>
                    <a:pt x="0" y="5155991"/>
                  </a:lnTo>
                  <a:lnTo>
                    <a:pt x="0" y="0"/>
                  </a:lnTo>
                  <a:close/>
                </a:path>
              </a:pathLst>
            </a:custGeom>
            <a:blipFill>
              <a:blip r:embed="rId9"/>
              <a:stretch>
                <a:fillRect/>
              </a:stretch>
            </a:blipFill>
          </p:spPr>
        </p:sp>
        <p:sp>
          <p:nvSpPr>
            <p:cNvPr id="143" name="Freeform 143"/>
            <p:cNvSpPr/>
            <p:nvPr/>
          </p:nvSpPr>
          <p:spPr>
            <a:xfrm>
              <a:off x="0" y="163999"/>
              <a:ext cx="2350025" cy="5094904"/>
            </a:xfrm>
            <a:custGeom>
              <a:avLst/>
              <a:gdLst/>
              <a:ahLst/>
              <a:cxnLst/>
              <a:rect l="l" t="t" r="r" b="b"/>
              <a:pathLst>
                <a:path w="2350025" h="5094904">
                  <a:moveTo>
                    <a:pt x="0" y="0"/>
                  </a:moveTo>
                  <a:lnTo>
                    <a:pt x="2350025" y="0"/>
                  </a:lnTo>
                  <a:lnTo>
                    <a:pt x="2350025" y="5094904"/>
                  </a:lnTo>
                  <a:lnTo>
                    <a:pt x="0" y="5094904"/>
                  </a:lnTo>
                  <a:lnTo>
                    <a:pt x="0" y="0"/>
                  </a:lnTo>
                  <a:close/>
                </a:path>
              </a:pathLst>
            </a:custGeom>
            <a:blipFill>
              <a:blip r:embed="rId10"/>
              <a:stretch>
                <a:fillRect/>
              </a:stretch>
            </a:blipFill>
          </p:spPr>
        </p:sp>
      </p:grpSp>
      <p:sp>
        <p:nvSpPr>
          <p:cNvPr id="144" name="Freeform 144"/>
          <p:cNvSpPr/>
          <p:nvPr/>
        </p:nvSpPr>
        <p:spPr>
          <a:xfrm>
            <a:off x="30100399" y="12129912"/>
            <a:ext cx="3139604" cy="3944177"/>
          </a:xfrm>
          <a:custGeom>
            <a:avLst/>
            <a:gdLst/>
            <a:ahLst/>
            <a:cxnLst/>
            <a:rect l="l" t="t" r="r" b="b"/>
            <a:pathLst>
              <a:path w="3139604" h="3944177">
                <a:moveTo>
                  <a:pt x="0" y="0"/>
                </a:moveTo>
                <a:lnTo>
                  <a:pt x="3139604" y="0"/>
                </a:lnTo>
                <a:lnTo>
                  <a:pt x="3139604" y="3944178"/>
                </a:lnTo>
                <a:lnTo>
                  <a:pt x="0" y="3944178"/>
                </a:lnTo>
                <a:lnTo>
                  <a:pt x="0" y="0"/>
                </a:lnTo>
                <a:close/>
              </a:path>
            </a:pathLst>
          </a:custGeom>
          <a:blipFill>
            <a:blip r:embed="rId11"/>
            <a:stretch>
              <a:fillRect r="-9837" b="-3317"/>
            </a:stretch>
          </a:blipFill>
        </p:spPr>
      </p:sp>
      <p:grpSp>
        <p:nvGrpSpPr>
          <p:cNvPr id="145" name="Group 145"/>
          <p:cNvGrpSpPr/>
          <p:nvPr/>
        </p:nvGrpSpPr>
        <p:grpSpPr>
          <a:xfrm>
            <a:off x="30077715" y="15919311"/>
            <a:ext cx="13060187" cy="5896550"/>
            <a:chOff x="-1867" y="-12739"/>
            <a:chExt cx="1074913" cy="485313"/>
          </a:xfrm>
        </p:grpSpPr>
        <p:sp>
          <p:nvSpPr>
            <p:cNvPr id="146" name="Freeform 146"/>
            <p:cNvSpPr/>
            <p:nvPr/>
          </p:nvSpPr>
          <p:spPr>
            <a:xfrm>
              <a:off x="0" y="0"/>
              <a:ext cx="1073046" cy="380538"/>
            </a:xfrm>
            <a:custGeom>
              <a:avLst/>
              <a:gdLst/>
              <a:ahLst/>
              <a:cxnLst/>
              <a:rect l="l" t="t" r="r" b="b"/>
              <a:pathLst>
                <a:path w="1073046" h="380538">
                  <a:moveTo>
                    <a:pt x="0" y="0"/>
                  </a:moveTo>
                  <a:lnTo>
                    <a:pt x="1073046" y="0"/>
                  </a:lnTo>
                  <a:lnTo>
                    <a:pt x="1073046" y="380538"/>
                  </a:lnTo>
                  <a:lnTo>
                    <a:pt x="0" y="380538"/>
                  </a:lnTo>
                  <a:close/>
                </a:path>
              </a:pathLst>
            </a:custGeom>
          </p:spPr>
        </p:sp>
        <p:sp>
          <p:nvSpPr>
            <p:cNvPr id="147" name="TextBox 147"/>
            <p:cNvSpPr txBox="1"/>
            <p:nvPr/>
          </p:nvSpPr>
          <p:spPr>
            <a:xfrm>
              <a:off x="-1867" y="-12739"/>
              <a:ext cx="1073046" cy="485313"/>
            </a:xfrm>
            <a:prstGeom prst="rect">
              <a:avLst/>
            </a:prstGeom>
          </p:spPr>
          <p:txBody>
            <a:bodyPr lIns="50800" tIns="50800" rIns="50800" bIns="50800" rtlCol="0" anchor="t"/>
            <a:lstStyle/>
            <a:p>
              <a:pPr algn="just">
                <a:lnSpc>
                  <a:spcPts val="7000"/>
                </a:lnSpc>
              </a:pPr>
              <a:r>
                <a:rPr lang="en-US" sz="5000" b="1" dirty="0">
                  <a:solidFill>
                    <a:srgbClr val="F55E25"/>
                  </a:solidFill>
                  <a:latin typeface="Canva Sans Bold"/>
                  <a:ea typeface="Canva Sans Bold"/>
                  <a:cs typeface="Canva Sans Bold"/>
                  <a:sym typeface="Canva Sans Bold"/>
                </a:rPr>
                <a:t>DISCUSSION</a:t>
              </a:r>
            </a:p>
            <a:p>
              <a:pPr algn="just">
                <a:lnSpc>
                  <a:spcPts val="3499"/>
                </a:lnSpc>
                <a:spcBef>
                  <a:spcPct val="0"/>
                </a:spcBef>
              </a:pPr>
              <a:r>
                <a:rPr lang="en-US" sz="2499" dirty="0">
                  <a:solidFill>
                    <a:srgbClr val="000000"/>
                  </a:solidFill>
                  <a:latin typeface="Canva Sans"/>
                  <a:ea typeface="Canva Sans"/>
                  <a:cs typeface="Canva Sans"/>
                  <a:sym typeface="Canva Sans"/>
                </a:rPr>
                <a:t>For future work, integrating IBM Weather Company data as a secondary meteorological source will add redundancy and resilience to the danger assessment pipeline, ensuring continuous fire risk prediction. An Android expansion is planned to extend BEACON's reach to the significant portion of LEP communities. Rigorous user testing with diverse LEP communities will guide improvements to language accuracy, UI accessibility, and checklist personalization. Human-in-the-loop review for critical translation outputs and live shelter availability integration are also on the roadmap.</a:t>
              </a:r>
            </a:p>
          </p:txBody>
        </p:sp>
      </p:grpSp>
      <p:grpSp>
        <p:nvGrpSpPr>
          <p:cNvPr id="148" name="Group 148"/>
          <p:cNvGrpSpPr/>
          <p:nvPr/>
        </p:nvGrpSpPr>
        <p:grpSpPr>
          <a:xfrm>
            <a:off x="30010546" y="20391833"/>
            <a:ext cx="13081984" cy="5591837"/>
            <a:chOff x="-3661" y="-25168"/>
            <a:chExt cx="1076707" cy="460234"/>
          </a:xfrm>
        </p:grpSpPr>
        <p:sp>
          <p:nvSpPr>
            <p:cNvPr id="149" name="Freeform 149"/>
            <p:cNvSpPr/>
            <p:nvPr/>
          </p:nvSpPr>
          <p:spPr>
            <a:xfrm>
              <a:off x="0" y="0"/>
              <a:ext cx="1073046" cy="374509"/>
            </a:xfrm>
            <a:custGeom>
              <a:avLst/>
              <a:gdLst/>
              <a:ahLst/>
              <a:cxnLst/>
              <a:rect l="l" t="t" r="r" b="b"/>
              <a:pathLst>
                <a:path w="1073046" h="374509">
                  <a:moveTo>
                    <a:pt x="0" y="0"/>
                  </a:moveTo>
                  <a:lnTo>
                    <a:pt x="1073046" y="0"/>
                  </a:lnTo>
                  <a:lnTo>
                    <a:pt x="1073046" y="374509"/>
                  </a:lnTo>
                  <a:lnTo>
                    <a:pt x="0" y="374509"/>
                  </a:lnTo>
                  <a:close/>
                </a:path>
              </a:pathLst>
            </a:custGeom>
          </p:spPr>
        </p:sp>
        <p:sp>
          <p:nvSpPr>
            <p:cNvPr id="150" name="TextBox 150"/>
            <p:cNvSpPr txBox="1"/>
            <p:nvPr/>
          </p:nvSpPr>
          <p:spPr>
            <a:xfrm>
              <a:off x="-3661" y="-25168"/>
              <a:ext cx="1073046" cy="460234"/>
            </a:xfrm>
            <a:prstGeom prst="rect">
              <a:avLst/>
            </a:prstGeom>
          </p:spPr>
          <p:txBody>
            <a:bodyPr lIns="50800" tIns="50800" rIns="50800" bIns="50800" rtlCol="0" anchor="t"/>
            <a:lstStyle/>
            <a:p>
              <a:pPr algn="just">
                <a:lnSpc>
                  <a:spcPts val="6300"/>
                </a:lnSpc>
              </a:pPr>
              <a:r>
                <a:rPr lang="en-US" sz="4500" b="1" dirty="0">
                  <a:solidFill>
                    <a:srgbClr val="F55E25"/>
                  </a:solidFill>
                  <a:latin typeface="Canva Sans Bold"/>
                  <a:ea typeface="Canva Sans Bold"/>
                  <a:cs typeface="Canva Sans Bold"/>
                  <a:sym typeface="Canva Sans Bold"/>
                </a:rPr>
                <a:t>REFERENCES</a:t>
              </a:r>
            </a:p>
            <a:p>
              <a:pPr algn="just">
                <a:lnSpc>
                  <a:spcPts val="2800"/>
                </a:lnSpc>
              </a:pPr>
              <a:r>
                <a:rPr lang="en-US" sz="2000" dirty="0">
                  <a:solidFill>
                    <a:srgbClr val="000000"/>
                  </a:solidFill>
                  <a:latin typeface="Canva Sans"/>
                  <a:ea typeface="Canva Sans"/>
                  <a:cs typeface="Canva Sans"/>
                  <a:sym typeface="Canva Sans"/>
                </a:rPr>
                <a:t>[1] Theo Stein. "An Experimental NOAA Tool That Predicts Hourly Wildfire Hazards Across the U.S." National Oceanic and Atmospheric Administration. </a:t>
              </a:r>
            </a:p>
            <a:p>
              <a:pPr algn="just">
                <a:lnSpc>
                  <a:spcPts val="2800"/>
                </a:lnSpc>
              </a:pPr>
              <a:r>
                <a:rPr lang="en-US" sz="2000" dirty="0">
                  <a:solidFill>
                    <a:srgbClr val="000000"/>
                  </a:solidFill>
                  <a:latin typeface="Canva Sans"/>
                  <a:ea typeface="Canva Sans"/>
                  <a:cs typeface="Canva Sans"/>
                  <a:sym typeface="Canva Sans"/>
                </a:rPr>
                <a:t>[2] Vieira, Laura. "Limited English proficiency individuals: Assessing the inclusion of risk communication aimed at LEP populations in emergency and disaster management plans across the United States." Georgetown University (2022)</a:t>
              </a:r>
            </a:p>
            <a:p>
              <a:pPr algn="just">
                <a:lnSpc>
                  <a:spcPts val="2800"/>
                </a:lnSpc>
                <a:spcBef>
                  <a:spcPct val="0"/>
                </a:spcBef>
              </a:pPr>
              <a:r>
                <a:rPr lang="en-US" sz="2000" dirty="0">
                  <a:solidFill>
                    <a:srgbClr val="000000"/>
                  </a:solidFill>
                  <a:latin typeface="Canva Sans"/>
                  <a:ea typeface="Canva Sans"/>
                  <a:cs typeface="Canva Sans"/>
                  <a:sym typeface="Canva Sans"/>
                </a:rPr>
                <a:t>[3] Villarreal, Melissa, Carson MacPherson-</a:t>
              </a:r>
              <a:r>
                <a:rPr lang="en-US" sz="2000" dirty="0" err="1">
                  <a:solidFill>
                    <a:srgbClr val="000000"/>
                  </a:solidFill>
                  <a:latin typeface="Canva Sans"/>
                  <a:ea typeface="Canva Sans"/>
                  <a:cs typeface="Canva Sans"/>
                  <a:sym typeface="Canva Sans"/>
                </a:rPr>
                <a:t>Krutsky</a:t>
              </a:r>
              <a:r>
                <a:rPr lang="en-US" sz="2000" dirty="0">
                  <a:solidFill>
                    <a:srgbClr val="000000"/>
                  </a:solidFill>
                  <a:latin typeface="Canva Sans"/>
                  <a:ea typeface="Canva Sans"/>
                  <a:cs typeface="Canva Sans"/>
                  <a:sym typeface="Canva Sans"/>
                </a:rPr>
                <a:t>, and Mary Angelica Painter. "Barriers and best practices for inclusive emergency alerts and warnings." International Journal of Disaster Risk Reduction 125 (2025) </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1309</Words>
  <Application>Microsoft Macintosh PowerPoint</Application>
  <PresentationFormat>Custom</PresentationFormat>
  <Paragraphs>77</Paragraphs>
  <Slides>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Canva Sans Bold</vt:lpstr>
      <vt:lpstr>Arial</vt:lpstr>
      <vt:lpstr>Raleway Bold</vt:lpstr>
      <vt:lpstr>Raleway Semi-Bold</vt:lpstr>
      <vt:lpstr>Raleway Medium</vt:lpstr>
      <vt:lpstr>Calibri</vt:lpstr>
      <vt:lpstr>Raleway</vt:lpstr>
      <vt:lpstr>Canva Sans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BEACON Poster</dc:title>
  <cp:lastModifiedBy>Diane Woodbridge</cp:lastModifiedBy>
  <cp:revision>2</cp:revision>
  <dcterms:created xsi:type="dcterms:W3CDTF">2006-08-16T00:00:00Z</dcterms:created>
  <dcterms:modified xsi:type="dcterms:W3CDTF">2026-04-03T20:07:57Z</dcterms:modified>
  <dc:identifier>DAHF0dQDgP0</dc:identifier>
</cp:coreProperties>
</file>